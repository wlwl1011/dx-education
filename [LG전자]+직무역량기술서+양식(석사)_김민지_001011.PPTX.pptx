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6"/>
  </p:notesMasterIdLst>
  <p:sldIdLst>
    <p:sldId id="302" r:id="rId2"/>
    <p:sldId id="306" r:id="rId3"/>
    <p:sldId id="309" r:id="rId4"/>
    <p:sldId id="317" r:id="rId5"/>
    <p:sldId id="318" r:id="rId6"/>
    <p:sldId id="312" r:id="rId7"/>
    <p:sldId id="313" r:id="rId8"/>
    <p:sldId id="314" r:id="rId9"/>
    <p:sldId id="258" r:id="rId10"/>
    <p:sldId id="303" r:id="rId11"/>
    <p:sldId id="304" r:id="rId12"/>
    <p:sldId id="259" r:id="rId13"/>
    <p:sldId id="305" r:id="rId14"/>
    <p:sldId id="293" r:id="rId15"/>
  </p:sldIdLst>
  <p:sldSz cx="12192000" cy="6858000"/>
  <p:notesSz cx="6858000" cy="9144000"/>
  <p:embeddedFontLst>
    <p:embeddedFont>
      <p:font typeface="Gmarket Sans Bold" panose="020F0502020204030204" pitchFamily="34" charset="0"/>
      <p:regular r:id="rId17"/>
      <p:bold r:id="rId18"/>
      <p:italic r:id="rId19"/>
      <p:boldItalic r:id="rId20"/>
    </p:embeddedFont>
    <p:embeddedFont>
      <p:font typeface="LG EI Text Regular" panose="020B0500000101010101" pitchFamily="34" charset="-127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3EC"/>
    <a:srgbClr val="FEEFC7"/>
    <a:srgbClr val="D90048"/>
    <a:srgbClr val="E9E9E9"/>
    <a:srgbClr val="EFEFEF"/>
    <a:srgbClr val="ECECEC"/>
    <a:srgbClr val="E10045"/>
    <a:srgbClr val="EC7F34"/>
    <a:srgbClr val="FF8B33"/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375"/>
    <p:restoredTop sz="60424"/>
  </p:normalViewPr>
  <p:slideViewPr>
    <p:cSldViewPr snapToGrid="0">
      <p:cViewPr>
        <p:scale>
          <a:sx n="106" d="100"/>
          <a:sy n="106" d="100"/>
        </p:scale>
        <p:origin x="-80" y="-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49246-FD5E-154F-AB18-BB5440613371}" type="datetimeFigureOut">
              <a:rPr kumimoji="1" lang="ko-Kore-KR" altLang="en-US" smtClean="0"/>
              <a:t>11/5/24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55426-9F0C-0348-A63A-46D6396408D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33057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안녕하십니까</a:t>
            </a:r>
            <a:r>
              <a:rPr kumimoji="1" lang="en-US" altLang="ko-KR" dirty="0"/>
              <a:t>. LG</a:t>
            </a:r>
            <a:r>
              <a:rPr kumimoji="1" lang="ko-KR" altLang="en-US" dirty="0"/>
              <a:t>전자 </a:t>
            </a:r>
            <a:r>
              <a:rPr kumimoji="1" lang="en-US" altLang="ko-KR" dirty="0"/>
              <a:t>H&amp;A </a:t>
            </a:r>
            <a:r>
              <a:rPr kumimoji="1" lang="ko-KR" altLang="en-US" dirty="0"/>
              <a:t>부서에 지원한 김민지입니다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55426-9F0C-0348-A63A-46D6396408DE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42807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8290E-B5AE-6AE0-6C73-4D993BC52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03B5B4-F31A-A266-0716-C0A610309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561777-B5AD-D78E-84FA-FE18F15FA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안녕하십니까</a:t>
            </a:r>
            <a:r>
              <a:rPr kumimoji="1" lang="en-US" altLang="ko-KR" dirty="0"/>
              <a:t>.</a:t>
            </a:r>
          </a:p>
          <a:p>
            <a:br>
              <a:rPr kumimoji="1" lang="en-US" altLang="en-US" dirty="0"/>
            </a:br>
            <a:r>
              <a:rPr kumimoji="1" lang="ko-KR" altLang="en-US" dirty="0"/>
              <a:t>만나 뵙게 되어 영광입니다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 제 이름은 김민지입니다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저는 경북대학교 컴퓨터학부에서 학사와 석사를 모두 졸업하고 현재는 </a:t>
            </a:r>
            <a:r>
              <a:rPr kumimoji="1" lang="en-US" altLang="ko-KR" dirty="0"/>
              <a:t>LG</a:t>
            </a:r>
            <a:r>
              <a:rPr kumimoji="1" lang="ko-KR" altLang="en-US" dirty="0"/>
              <a:t>전자에서 근무하고 있습니다</a:t>
            </a:r>
            <a:r>
              <a:rPr kumimoji="1" lang="en-US" altLang="ko-KR" dirty="0"/>
              <a:t>.</a:t>
            </a:r>
            <a:endParaRPr kumimoji="1" lang="en-US" altLang="en-US" dirty="0"/>
          </a:p>
          <a:p>
            <a:endParaRPr kumimoji="1" lang="en-US" altLang="ko-KR" dirty="0"/>
          </a:p>
          <a:p>
            <a:r>
              <a:rPr kumimoji="1" lang="ko-KR" altLang="en-US" dirty="0"/>
              <a:t>스스로 생각하기에 조금 특이사항이 있다면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학석사</a:t>
            </a:r>
            <a:r>
              <a:rPr kumimoji="1" lang="ko-KR" altLang="en-US" dirty="0"/>
              <a:t> 연계를 통해서 석사과정을 </a:t>
            </a:r>
            <a:r>
              <a:rPr kumimoji="1" lang="ko-KR" altLang="en-US" dirty="0" err="1"/>
              <a:t>졸업했다는건데요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그래서 학부는 </a:t>
            </a:r>
            <a:r>
              <a:rPr kumimoji="1" lang="en-US" altLang="ko-KR" dirty="0"/>
              <a:t>19</a:t>
            </a:r>
            <a:r>
              <a:rPr kumimoji="1" lang="ko-KR" altLang="en-US" dirty="0"/>
              <a:t>학번으로 입학했고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3</a:t>
            </a:r>
            <a:r>
              <a:rPr kumimoji="1" lang="ko-KR" altLang="en-US" dirty="0"/>
              <a:t>년 </a:t>
            </a:r>
            <a:r>
              <a:rPr kumimoji="1" lang="ko-KR" altLang="en-US" dirty="0" err="1"/>
              <a:t>반만에</a:t>
            </a:r>
            <a:r>
              <a:rPr kumimoji="1" lang="ko-KR" altLang="en-US" dirty="0"/>
              <a:t> 학사 과정을 졸업하고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r>
              <a:rPr kumimoji="1" lang="ko-KR" altLang="en-US" dirty="0"/>
              <a:t>년 반동안의 석사 과정을 통해 올해 </a:t>
            </a:r>
            <a:r>
              <a:rPr kumimoji="1" lang="en-US" altLang="ko-KR" dirty="0"/>
              <a:t>2</a:t>
            </a:r>
            <a:r>
              <a:rPr kumimoji="1" lang="ko-KR" altLang="en-US" dirty="0"/>
              <a:t>월에 석사를 졸업했습니다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특히 석사는 네트워크를 전공했습니다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(</a:t>
            </a:r>
            <a:r>
              <a:rPr kumimoji="1" lang="ko-KR" altLang="en-US" dirty="0"/>
              <a:t>그리고 취업 시장에서의 유리한 위치를 선점하고 싶었다면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오히려 인공지능을 전공했을 것 같아요</a:t>
            </a:r>
            <a:r>
              <a:rPr kumimoji="1" lang="en-US" altLang="ko-KR" dirty="0"/>
              <a:t>…</a:t>
            </a:r>
            <a:r>
              <a:rPr kumimoji="1" lang="ko-KR" altLang="en-US" dirty="0"/>
              <a:t> 그리고 아시겠지만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취업 시장에서</a:t>
            </a:r>
            <a:r>
              <a:rPr kumimoji="1" lang="en-US" altLang="ko-KR" dirty="0"/>
              <a:t>,</a:t>
            </a:r>
            <a:r>
              <a:rPr kumimoji="1" lang="ko-KR" altLang="en-US" dirty="0"/>
              <a:t> 네트워크라는 분야가 그리 좋은 위치를 가지고 있지도 않으니까요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)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6C7E15-AF90-4D8F-3362-56A5FF695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55426-9F0C-0348-A63A-46D6396408DE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4486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9A41E-8BD8-3467-1D93-A968EB89D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275DE0-FA7D-671B-E8C6-550FBECE9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AAD049-54E3-DADB-1D5C-B44C5529B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그래서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..</a:t>
            </a:r>
          </a:p>
          <a:p>
            <a:endParaRPr lang="en-US" altLang="ko-KR" b="0" i="0" dirty="0">
              <a:solidFill>
                <a:srgbClr val="555555"/>
              </a:solidFill>
              <a:effectLst/>
              <a:latin typeface="LGSmHaTR"/>
            </a:endParaRPr>
          </a:p>
          <a:p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저는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LG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전자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H&amp;A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사업본부에서 네트워크 제어개발팀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3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LGSmHaTR"/>
              </a:rPr>
              <a:t>년차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 연구원입니다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.</a:t>
            </a:r>
          </a:p>
          <a:p>
            <a:endParaRPr lang="en-US" altLang="ko-KR" b="0" i="0" dirty="0">
              <a:solidFill>
                <a:srgbClr val="555555"/>
              </a:solidFill>
              <a:effectLst/>
              <a:latin typeface="LGSmHaTR"/>
            </a:endParaRPr>
          </a:p>
          <a:p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석사 학위가 인정이 되어서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,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 비록 나이는 어리지만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3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LGSmHaTR"/>
              </a:rPr>
              <a:t>년차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 연구원으로 일하고 있습니다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.</a:t>
            </a:r>
          </a:p>
          <a:p>
            <a:endParaRPr lang="en-US" altLang="ko-KR" b="0" i="0" dirty="0">
              <a:solidFill>
                <a:srgbClr val="555555"/>
              </a:solidFill>
              <a:effectLst/>
              <a:latin typeface="LGSmHaTR"/>
            </a:endParaRPr>
          </a:p>
          <a:p>
            <a:endParaRPr lang="en-US" altLang="ko-KR" b="0" i="0" dirty="0">
              <a:solidFill>
                <a:srgbClr val="555555"/>
              </a:solidFill>
              <a:effectLst/>
              <a:latin typeface="LGSmHaTR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D7AC14-1863-B177-0C6D-3C907DBE8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55426-9F0C-0348-A63A-46D6396408DE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28366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76F04-0FC6-E22D-C9B2-BFEAD89C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052C26-C8BF-D666-7FFE-B16EAC68F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316C65-FA24-F699-334F-EA2CF4603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2250"/>
              </a:spcAft>
            </a:pP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그렇다면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,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 간단하게 회사의 전반적인 사업부에 대한 소개로 회사 소개를 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LGSmHaTR"/>
              </a:rPr>
              <a:t>시작해보고자합니다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.</a:t>
            </a:r>
          </a:p>
          <a:p>
            <a:pPr algn="l">
              <a:spcAft>
                <a:spcPts val="2250"/>
              </a:spcAft>
            </a:pPr>
            <a:endParaRPr lang="en-US" b="0" i="0" dirty="0">
              <a:solidFill>
                <a:srgbClr val="555555"/>
              </a:solidFill>
              <a:effectLst/>
              <a:latin typeface="LGSmHaTR"/>
            </a:endParaRPr>
          </a:p>
          <a:p>
            <a:pPr algn="l">
              <a:spcAft>
                <a:spcPts val="2250"/>
              </a:spcAft>
            </a:pP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LG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전자가 어떤 회사인지는 모두 대충은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..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 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LGSmHaTR"/>
              </a:rPr>
              <a:t>계실거라고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 생각을 합니다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.</a:t>
            </a:r>
          </a:p>
          <a:p>
            <a:pPr algn="l">
              <a:spcAft>
                <a:spcPts val="2250"/>
              </a:spcAft>
            </a:pPr>
            <a:endParaRPr lang="en-US" altLang="ko-KR" b="0" i="0" dirty="0">
              <a:solidFill>
                <a:srgbClr val="555555"/>
              </a:solidFill>
              <a:effectLst/>
              <a:latin typeface="LGSmHaTR"/>
            </a:endParaRPr>
          </a:p>
          <a:p>
            <a:pPr algn="l">
              <a:spcAft>
                <a:spcPts val="2250"/>
              </a:spcAft>
            </a:pP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LG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전자는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LG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 계열사 중 전기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.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전자 제품을 개발하는 회사인데요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,</a:t>
            </a:r>
          </a:p>
          <a:p>
            <a:pPr algn="l">
              <a:spcAft>
                <a:spcPts val="2250"/>
              </a:spcAft>
            </a:pPr>
            <a:endParaRPr lang="en-US" b="0" i="0" dirty="0">
              <a:solidFill>
                <a:srgbClr val="555555"/>
              </a:solidFill>
              <a:effectLst/>
              <a:latin typeface="LGSmHaTR"/>
            </a:endParaRPr>
          </a:p>
          <a:p>
            <a:pPr algn="l">
              <a:spcAft>
                <a:spcPts val="2250"/>
              </a:spcAft>
            </a:pP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총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4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GSmHaTR"/>
              </a:rPr>
              <a:t>개의 사업부로 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LGSmHaTR"/>
              </a:rPr>
              <a:t>이루어져있습니다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GSmHaTR"/>
              </a:rPr>
              <a:t>.</a:t>
            </a:r>
            <a:br>
              <a:rPr lang="en-US" b="0" i="0" dirty="0">
                <a:solidFill>
                  <a:srgbClr val="555555"/>
                </a:solidFill>
                <a:effectLst/>
                <a:latin typeface="LGSmHaTR"/>
              </a:rPr>
            </a:br>
            <a:br>
              <a:rPr lang="en-US" b="0" i="0" dirty="0">
                <a:solidFill>
                  <a:srgbClr val="555555"/>
                </a:solidFill>
                <a:effectLst/>
                <a:latin typeface="LGSmHaTR"/>
              </a:rPr>
            </a:b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냉장고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세탁기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에어컨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청소기 와 같은 가전을 만드는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Home appliance &amp; Air solution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사업부 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-apple-system"/>
              </a:rPr>
              <a:t>(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H&amp;A) 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 ,</a:t>
            </a:r>
          </a:p>
          <a:p>
            <a:pPr algn="l">
              <a:spcAft>
                <a:spcPts val="2250"/>
              </a:spcAft>
            </a:pP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TV, Audio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 등을 만드는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Home Entertainment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사업부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(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HE),</a:t>
            </a:r>
          </a:p>
          <a:p>
            <a:pPr algn="l">
              <a:spcAft>
                <a:spcPts val="2250"/>
              </a:spcAft>
            </a:pP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자동차 부품 등을 만드는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-apple-system"/>
              </a:rPr>
              <a:t>Vehiclecomponent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 Solutions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사업부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(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VS)</a:t>
            </a:r>
          </a:p>
          <a:p>
            <a:pPr algn="l">
              <a:spcAft>
                <a:spcPts val="2250"/>
              </a:spcAft>
            </a:pP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모니터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,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PC, 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-apple-system"/>
              </a:rPr>
              <a:t>사이니지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 등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(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LG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그램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)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을 생산하는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Business Solutions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사업부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(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BS)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로 이루어져 있습니다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.</a:t>
            </a:r>
          </a:p>
          <a:p>
            <a:pPr algn="l">
              <a:spcAft>
                <a:spcPts val="2250"/>
              </a:spcAft>
            </a:pPr>
            <a:endParaRPr lang="en-US" altLang="ko-KR" b="0" i="0" dirty="0">
              <a:solidFill>
                <a:srgbClr val="222222"/>
              </a:solidFill>
              <a:effectLst/>
              <a:latin typeface="-apple-system"/>
            </a:endParaRPr>
          </a:p>
          <a:p>
            <a:pPr algn="l">
              <a:spcAft>
                <a:spcPts val="2250"/>
              </a:spcAft>
            </a:pP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저는 이 중에서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,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H&amp;A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사업부에 근무하고 있고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,</a:t>
            </a:r>
          </a:p>
          <a:p>
            <a:pPr algn="l">
              <a:spcAft>
                <a:spcPts val="2250"/>
              </a:spcAft>
            </a:pP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만약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SW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 직무 연구원으로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LG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전자에 근무하게 되신다면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,</a:t>
            </a:r>
          </a:p>
          <a:p>
            <a:pPr algn="l">
              <a:spcAft>
                <a:spcPts val="2250"/>
              </a:spcAft>
            </a:pP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여기 앞에 보이시는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LG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에서 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-apple-system"/>
              </a:rPr>
              <a:t>생산하게될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 이 전자 제품에 들어가게 될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SW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-apple-system"/>
              </a:rPr>
              <a:t>를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 개발하게 됩니다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.</a:t>
            </a:r>
          </a:p>
          <a:p>
            <a:pPr algn="l">
              <a:spcAft>
                <a:spcPts val="2250"/>
              </a:spcAft>
            </a:pPr>
            <a:endParaRPr lang="en-US" altLang="ko-KR" b="0" i="0" dirty="0">
              <a:solidFill>
                <a:srgbClr val="222222"/>
              </a:solidFill>
              <a:effectLst/>
              <a:latin typeface="-apple-system"/>
            </a:endParaRPr>
          </a:p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78315E-9A5C-399E-5A08-4E772B21A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55426-9F0C-0348-A63A-46D6396408DE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5459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6B94B-1E3C-4B9C-F44F-F91DF974D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038E69-CE6D-3953-B5D5-0387C4BA4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6C290C-0596-97BF-F9DB-8115B5143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 dirty="0"/>
              <a:t>H&amp;A</a:t>
            </a:r>
            <a:r>
              <a:rPr kumimoji="1" lang="ko-KR" altLang="en-US" dirty="0"/>
              <a:t> 사업본부의 연구 센터는 총 </a:t>
            </a:r>
            <a:r>
              <a:rPr kumimoji="1" lang="en-US" altLang="ko-KR" dirty="0"/>
              <a:t>2</a:t>
            </a:r>
            <a:r>
              <a:rPr kumimoji="1" lang="ko-KR" altLang="en-US" dirty="0"/>
              <a:t>곳으로 </a:t>
            </a:r>
            <a:r>
              <a:rPr kumimoji="1" lang="ko-KR" altLang="en-US" dirty="0" err="1"/>
              <a:t>나뉘어져있습니다</a:t>
            </a:r>
            <a:r>
              <a:rPr kumimoji="1" lang="en-US" altLang="ko-KR" dirty="0"/>
              <a:t>.</a:t>
            </a:r>
          </a:p>
          <a:p>
            <a:endParaRPr kumimoji="1" lang="en-US" altLang="en-US" dirty="0"/>
          </a:p>
          <a:p>
            <a:pPr algn="l" fontAlgn="base"/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가산과 창원 지역으로 나뉘어지고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, </a:t>
            </a:r>
          </a:p>
          <a:p>
            <a:pPr algn="l" fontAlgn="base"/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가산은 선행연구 개발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, </a:t>
            </a:r>
          </a:p>
          <a:p>
            <a:pPr algn="l" fontAlgn="base"/>
            <a:endParaRPr lang="en-US" altLang="ko-KR" b="0" i="0" dirty="0">
              <a:solidFill>
                <a:srgbClr val="333333"/>
              </a:solidFill>
              <a:effectLst/>
              <a:latin typeface="se-nanumgothic"/>
            </a:endParaRPr>
          </a:p>
          <a:p>
            <a:pPr algn="l" fontAlgn="base"/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창원은 현재 제품과 관련된 개발 즉 양산품을 개발합니다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.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 </a:t>
            </a:r>
            <a:endParaRPr lang="en-US" altLang="ko-KR" b="0" i="0" dirty="0">
              <a:solidFill>
                <a:srgbClr val="333333"/>
              </a:solidFill>
              <a:effectLst/>
              <a:latin typeface="se-nanumgothic"/>
            </a:endParaRPr>
          </a:p>
          <a:p>
            <a:pPr algn="l" fontAlgn="base"/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실제로 창원에 가보시면 공장이 있어서 공장에서 제품을 받아와서 실물 테스트를 진행하기도 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.</a:t>
            </a:r>
          </a:p>
          <a:p>
            <a:pPr algn="l" fontAlgn="base"/>
            <a:endParaRPr lang="en-US" altLang="ko-KR" b="0" i="0" dirty="0">
              <a:solidFill>
                <a:srgbClr val="333333"/>
              </a:solidFill>
              <a:effectLst/>
              <a:latin typeface="se-nanumgothic"/>
            </a:endParaRPr>
          </a:p>
          <a:p>
            <a:pPr algn="l" fontAlgn="base"/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그래서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..</a:t>
            </a:r>
          </a:p>
          <a:p>
            <a:pPr algn="l" fontAlgn="base"/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가산에는 주로 석사 이상의 인력이 배치가 되고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,</a:t>
            </a:r>
          </a:p>
          <a:p>
            <a:pPr algn="l" fontAlgn="base"/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창원에는 학사 인력이 배치가 되는데요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,</a:t>
            </a:r>
          </a:p>
          <a:p>
            <a:pPr algn="l" fontAlgn="base"/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사실 석사임에도 실제 창원으로 배정받은 분도 있어요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.</a:t>
            </a:r>
          </a:p>
          <a:p>
            <a:pPr algn="l" fontAlgn="base"/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그래서 명확한 기준 자체는 석사 이상의 인력이 가산으로 배치가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se-nanumgothic"/>
              </a:rPr>
              <a:t>된다인데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,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 그 자세한 내막은 인사팀에서만 알고 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.</a:t>
            </a:r>
          </a:p>
          <a:p>
            <a:pPr algn="l" fontAlgn="base"/>
            <a:endParaRPr lang="en-US" altLang="ko-KR" b="0" i="0" dirty="0">
              <a:solidFill>
                <a:srgbClr val="333333"/>
              </a:solidFill>
              <a:effectLst/>
              <a:latin typeface="se-nanumgothic"/>
            </a:endParaRPr>
          </a:p>
          <a:p>
            <a:pPr algn="l" fontAlgn="base"/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LG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전자 사업부 중에서 가장 많은 성과금을 받는 곳이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H&amp;A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se-nanumgothic"/>
              </a:rPr>
              <a:t>인데요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,</a:t>
            </a:r>
          </a:p>
          <a:p>
            <a:pPr algn="l" fontAlgn="base"/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그래서 많은 사람들이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H&amp;A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 사업부에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se-nanumgothic"/>
              </a:rPr>
              <a:t>오고자하고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,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se-nanumgothic"/>
              </a:rPr>
              <a:t> 아무래도 서울에서 직장 다니길 선호하기 때문에 가산 연구소가 가장 경쟁률이 치열한 곳입니다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se-nanumgothic"/>
              </a:rPr>
              <a:t>.</a:t>
            </a:r>
          </a:p>
          <a:p>
            <a:pPr algn="l" fontAlgn="base"/>
            <a:endParaRPr lang="en-US" altLang="ko-KR" b="0" i="0" dirty="0">
              <a:solidFill>
                <a:srgbClr val="333333"/>
              </a:solidFill>
              <a:effectLst/>
              <a:latin typeface="se-nanumgothic"/>
            </a:endParaRPr>
          </a:p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6D596B-96E0-DD67-2076-07B1E2BDD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55426-9F0C-0348-A63A-46D6396408DE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58010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454E4-1A16-B298-DC8C-9EDAD5F65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266C47-4643-F913-7A31-D8446DF3B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2A37CB-45AB-9756-28A4-C9F3CF6AA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저는 가산 연구센터로 </a:t>
            </a:r>
            <a:r>
              <a:rPr kumimoji="1" lang="ko-KR" altLang="en-US" dirty="0" err="1"/>
              <a:t>배정이되어</a:t>
            </a:r>
            <a:r>
              <a:rPr kumimoji="1" lang="ko-KR" altLang="en-US" dirty="0"/>
              <a:t> 선행 연구를 하고 있습니다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특히 빌딩</a:t>
            </a:r>
            <a:r>
              <a:rPr kumimoji="1" lang="en-US" altLang="ko-KR" dirty="0"/>
              <a:t>,</a:t>
            </a:r>
            <a:r>
              <a:rPr kumimoji="1" lang="ko-KR" altLang="en-US" dirty="0"/>
              <a:t> 학교</a:t>
            </a:r>
            <a:r>
              <a:rPr kumimoji="1" lang="en-US" altLang="ko-KR" dirty="0"/>
              <a:t>,</a:t>
            </a:r>
            <a:r>
              <a:rPr kumimoji="1" lang="ko-KR" altLang="en-US" dirty="0"/>
              <a:t> 병원과 같은 대형 건물에 들어가는 시스템 에어컨을 모니터링하고 제어나 에너지 관리 등을 하는 제어기를 위한 </a:t>
            </a:r>
            <a:r>
              <a:rPr kumimoji="1" lang="en-US" altLang="ko-KR" dirty="0" err="1"/>
              <a:t>sw</a:t>
            </a:r>
            <a:r>
              <a:rPr kumimoji="1" lang="ko-KR" altLang="en-US" dirty="0"/>
              <a:t> 개발을 진행하고 있습니다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7B7417-F0DA-4A8C-C724-660BB3B7D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55426-9F0C-0348-A63A-46D6396408DE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41045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8A1E-1EB6-C32D-8C57-82048175E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14B517-3573-AB59-CED4-05570E672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AE4440-D21E-DD55-5283-0B712FB70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제가 진행하고 있는 선행 연구의 현 양상품은 </a:t>
            </a:r>
            <a:r>
              <a:rPr kumimoji="1" lang="en-US" altLang="ko-KR" dirty="0" err="1"/>
              <a:t>acp</a:t>
            </a:r>
            <a:r>
              <a:rPr kumimoji="1" lang="en-US" altLang="ko-KR" dirty="0"/>
              <a:t> 5</a:t>
            </a:r>
            <a:r>
              <a:rPr kumimoji="1" lang="ko-KR" altLang="en-US" dirty="0" err="1"/>
              <a:t>인데요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C29E9-DEAA-051A-85AF-E708154A4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55426-9F0C-0348-A63A-46D6396408DE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59207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5764F-4FD6-2FA2-149A-5F456385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ACED7E-15FC-CACD-73CE-8B2DCB238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DD9075-2DF6-CE7A-C1A3-378A194D9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경북대학교 건물에도 </a:t>
            </a:r>
            <a:r>
              <a:rPr lang="ko-KR" altLang="en-US" dirty="0" err="1"/>
              <a:t>엘지전자의</a:t>
            </a:r>
            <a:r>
              <a:rPr lang="ko-KR" altLang="en-US" dirty="0"/>
              <a:t> 시스템 에어컨이 다수 </a:t>
            </a:r>
            <a:r>
              <a:rPr lang="ko-KR" altLang="en-US" dirty="0" err="1"/>
              <a:t>설치되어있는</a:t>
            </a:r>
            <a:r>
              <a:rPr lang="ko-KR" altLang="en-US" dirty="0"/>
              <a:t> 것으로 아는데요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 제어기를 통해 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앞에 </a:t>
            </a:r>
            <a:r>
              <a:rPr lang="ko-KR" altLang="en-US" dirty="0" err="1"/>
              <a:t>보이는것과</a:t>
            </a:r>
            <a:r>
              <a:rPr lang="ko-KR" altLang="en-US" dirty="0"/>
              <a:t> 같이 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다수의 실내기와 실외기 상태를 실시간으로 관리할 수 있으며</a:t>
            </a:r>
            <a:r>
              <a:rPr lang="en-US" altLang="ko-KR" dirty="0"/>
              <a:t>, </a:t>
            </a:r>
            <a:r>
              <a:rPr lang="ko-KR" altLang="en-US" dirty="0"/>
              <a:t>주요 기능으로는 이상 운전 감지</a:t>
            </a:r>
            <a:r>
              <a:rPr lang="en-US" altLang="ko-KR" dirty="0"/>
              <a:t>, </a:t>
            </a:r>
            <a:r>
              <a:rPr lang="ko-KR" altLang="en-US" dirty="0"/>
              <a:t>모니터링</a:t>
            </a:r>
            <a:r>
              <a:rPr lang="en-US" altLang="ko-KR" dirty="0"/>
              <a:t>, </a:t>
            </a:r>
            <a:r>
              <a:rPr lang="ko-KR" altLang="en-US" dirty="0"/>
              <a:t>제어</a:t>
            </a:r>
            <a:r>
              <a:rPr lang="en-US" altLang="ko-KR" dirty="0"/>
              <a:t>, </a:t>
            </a:r>
            <a:r>
              <a:rPr lang="ko-KR" altLang="en-US" dirty="0"/>
              <a:t>에너지 관리할 수 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사실 앞서 보여드린 </a:t>
            </a:r>
            <a:r>
              <a:rPr kumimoji="1" lang="en-US" altLang="ko-KR" dirty="0" err="1"/>
              <a:t>acp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10</a:t>
            </a:r>
            <a:r>
              <a:rPr kumimoji="1" lang="ko-KR" altLang="en-US" dirty="0"/>
              <a:t>년도 더 된 제품이어서 </a:t>
            </a:r>
            <a:endParaRPr kumimoji="1"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이를 개선한 선행 제품을 연구 개발하고 있습니다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C8414B-0CF3-854C-1F93-DD53324DA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55426-9F0C-0348-A63A-46D6396408DE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70645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안녕하십니까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저는 </a:t>
            </a:r>
            <a:r>
              <a:rPr 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LG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전자의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'</a:t>
            </a:r>
            <a:r>
              <a:rPr 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Evolving with You'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라는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2023 </a:t>
            </a:r>
            <a:r>
              <a:rPr 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CES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비전에따라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변화와 성장의 과정에 일조하고자 하는 김민지입니다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저는 </a:t>
            </a:r>
            <a:r>
              <a:rPr 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SW R&amp;D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직무에서 가장 필요한 역량은 실행력과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문제해결력이라고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생각합니다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왜냐하면 고객의 니즈와 기술 트렌드는 아주 빠르게 변화하고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신기술 연구 개발에 있어 예상치 못한 기술적 문제를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마딱드리는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것은 빈번하기 때문입니다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그럼 발표 시작하겠습니다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.~</a:t>
            </a: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저는 제 선택을 믿고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하고 싶은 일에 주저 없이 도전하는 사람입니다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이러한 가치관으로 경북대학교 입시 홍보단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크누리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IT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단대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학생회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글로벌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클래스룸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등 다양한 대외 활동을 해왔습니다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사실 이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처럼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다양한 활동을 하며 갈등 상황을 직면할 때도 있었습니다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컴퓨터학부 홍보단에서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2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년 동안 팀장으로 활동하며 원활한 소통 환경을 조성하기 위해 노력했습니다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매주 공식 </a:t>
            </a:r>
            <a:r>
              <a:rPr 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SNS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에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업로드될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카드 뉴스에 대한 콘텐츠의 방향을 설정할 당시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팀원 한 명의 참여도가 낮아 팀원들 간에 감정싸움이 발생하게 되었습니다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이를 해결하기 위해 재빨리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2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가지에 집중했습니다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첫째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먼저 불만이 생긴 팀원들과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1:1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로 대화를 나누며 이들의 이야기에 귀를 기울이며 공감을 건네기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둘째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워크숍을 주도하여 화합의 장 만들기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실제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이러한 노력 덕분에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해당 팀원이 본인이 의견을 제시할 수 없는 분위기가 어려웠음을 솔직하게 말하였고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이후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팀원들간에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서로를 이해하고 배려하는 분위기를 형성할 수 있었습니다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결과적으로 이러한 분위기가 업무에도 긍정적인 효과를 주었습니다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실제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sns</a:t>
            </a:r>
            <a:r>
              <a:rPr 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계정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팔로워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수가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50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명에서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1,000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명 이상 올리며 홍보단 활동을 잘 마무리했습니다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또한 교수님은 물론 팀원들에게도 긍정적인 평가를 받을 수 있었습니다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이러한 경험을 바탕으로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입사 후에도 서로의 생각을 이해하고 배려할 수 있는 대화의 장을 만들어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그 속에서 화합을 끌어내기 위해 노력하겠습니다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분명 제조업 기반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sw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는 하드웨어와 긴밀히 연결되어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프로젝트 구조가 복잡하여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혼자서는 해낼 수 없을 것이라고 생각합니다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 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앞선 경험들을 살려 팀원들은 물론 유관부서와 원활하게 협력하여 서비스의 질을 높이는 데 기여하겠습니다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br>
              <a:rPr lang="ko-KR" altLang="en-US" dirty="0"/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55426-9F0C-0348-A63A-46D6396408DE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3745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또한 저는 사람들에게 정말로 필요한 서비스에 대해 진지하게 고민하며 프로젝트에 임합니다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특히 문제 상황을 마주했을 때는 끈기 있게 붙잡고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해결해나갑니다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저는 고객의 가장 친근한 공간인 집과 직접적으로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닿아있는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가전을 개발하는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hna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부서에서는 비효율을 신속하게 파악하고 지속적으로 해결하는 능력이 필수적이라고 생각합니다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이에 과학기술정보통신부에서 주최하는 공개 </a:t>
            </a:r>
            <a:r>
              <a:rPr 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SW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개발자 대회에서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무중단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배포 구조를 도입하여 효율성을 높인 경험이 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단순히 동작하는 제품을 넘어 확장성 있는 제품 개발에 집중했습니다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먼저 </a:t>
            </a:r>
            <a:r>
              <a:rPr 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GCP, Jenkins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를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활용한 </a:t>
            </a:r>
            <a:r>
              <a:rPr 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CI/CD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환경을 구축했고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이를 통해 초기 사용자의 복잡함을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줄일수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있었습니다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그러나 </a:t>
            </a:r>
            <a:r>
              <a:rPr 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Jenkins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사용 시 응답 지연이 발생하는 문제점을 마주했습니다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이는 기존의 인프라가 서버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1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대로 운영되었기 때문으로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배포 시간 동안 잠시 기다렸다가 요청을 보내야 하는 불편함이 존재했습니다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서버의 지속적인 응답 제공을 위해 개선이 필요하다고 판단했고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이에 기존의 인프라를 보완하고자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2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대의 서버를 두고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무중단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배포 구조로 변경하여 응답 지연을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15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초에서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1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초까지 줄일 수 있었습니다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또한 오픈 소스화를 위해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깃허브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위키에 기능과 </a:t>
            </a:r>
            <a:r>
              <a:rPr 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API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를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모두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문서화해두어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다른 사람도 프로젝트에 손쉽게 기여할 수 있도록 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 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그 결과 인프라 구축 초기 단계의 복잡성 문제와 확장을 고려했다는 점을 인정받아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230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여 개의 팀 중 동상을 수상했습니다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이를통해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나은 소프트웨어 품질을 위해 고민하고 노력하는 자세를 확립할 수 있었습니다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이와같은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경험을 바탕으로 </a:t>
            </a:r>
            <a:r>
              <a:rPr 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Lg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전자의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스마트홈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서비스에서 소프트웨어의 품질을 높이기 위해 노력하겠습니다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</a:p>
          <a:p>
            <a:pPr algn="l"/>
            <a:br>
              <a:rPr lang="en-US" altLang="ko-KR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</a:br>
            <a:endParaRPr lang="en-US" altLang="ko-KR" b="0" i="0" dirty="0">
              <a:solidFill>
                <a:srgbClr val="000000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저는 이처럼 학부 시절 다양한 경진대회를 참가하며 자연스럽게 서비스 구현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뿐만아니라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 사용자 경험 개선을 위한 성능 부분에 관심을 갖게 되어</a:t>
            </a:r>
          </a:p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55426-9F0C-0348-A63A-46D6396408DE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12040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55426-9F0C-0348-A63A-46D6396408DE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4951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55426-9F0C-0348-A63A-46D6396408DE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66084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55426-9F0C-0348-A63A-46D6396408DE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12618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Matter </a:t>
            </a:r>
            <a:r>
              <a:rPr lang="ko-KR" altLang="en-US" dirty="0"/>
              <a:t>표준 적용이 가속화되어가고 있고</a:t>
            </a:r>
            <a:r>
              <a:rPr lang="en-US" altLang="ko-KR" dirty="0"/>
              <a:t>, </a:t>
            </a:r>
            <a:r>
              <a:rPr lang="ko-KR" altLang="en-US" dirty="0"/>
              <a:t>이러한 상황에서 고객들은 더 나은 성능의 제품을 찾으려고 할 것입니다</a:t>
            </a:r>
            <a:r>
              <a:rPr lang="en-US" altLang="ko-KR" dirty="0"/>
              <a:t>. </a:t>
            </a:r>
            <a:r>
              <a:rPr lang="ko-KR" altLang="en-US" dirty="0"/>
              <a:t>이러한 부분에서</a:t>
            </a:r>
            <a:r>
              <a:rPr lang="en-US" altLang="ko-KR" dirty="0"/>
              <a:t>, </a:t>
            </a:r>
            <a:r>
              <a:rPr lang="ko-KR" altLang="en-US" dirty="0"/>
              <a:t>앞선 경험에서 얻은 노하우들을 바탕으로 </a:t>
            </a:r>
            <a:r>
              <a:rPr lang="en-US" dirty="0"/>
              <a:t>LG </a:t>
            </a:r>
            <a:r>
              <a:rPr lang="ko-KR" altLang="en-US" dirty="0"/>
              <a:t>전자가 스마트 홈 서비스에서 주축이 될 수 있도록</a:t>
            </a:r>
            <a:r>
              <a:rPr lang="en-US" altLang="ko-KR" dirty="0"/>
              <a:t>, </a:t>
            </a:r>
            <a:r>
              <a:rPr lang="en-US" dirty="0"/>
              <a:t>QUIC</a:t>
            </a:r>
            <a:r>
              <a:rPr lang="ko-KR" altLang="en-US" dirty="0"/>
              <a:t>을 적용하여 안정성과 보안성을 </a:t>
            </a:r>
            <a:r>
              <a:rPr lang="ko-KR" altLang="en-US" dirty="0" err="1"/>
              <a:t>높이는데에</a:t>
            </a:r>
            <a:r>
              <a:rPr lang="ko-KR" altLang="en-US" dirty="0"/>
              <a:t> 이바지하고 싶습니다</a:t>
            </a:r>
            <a:r>
              <a:rPr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55426-9F0C-0348-A63A-46D6396408DE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79016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23D2-8908-FD42-9DF9-736F8576D44E}" type="datetimeFigureOut">
              <a:rPr kumimoji="1" lang="ko-Kore-KR" altLang="en-US" smtClean="0"/>
              <a:t>11/5/24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94DA1-9AC8-2844-B528-0BE03EFC0B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92853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23D2-8908-FD42-9DF9-736F8576D44E}" type="datetimeFigureOut">
              <a:rPr kumimoji="1" lang="ko-Kore-KR" altLang="en-US" smtClean="0"/>
              <a:t>11/5/24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94DA1-9AC8-2844-B528-0BE03EFC0B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35830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23D2-8908-FD42-9DF9-736F8576D44E}" type="datetimeFigureOut">
              <a:rPr kumimoji="1" lang="ko-Kore-KR" altLang="en-US" smtClean="0"/>
              <a:t>11/5/24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94DA1-9AC8-2844-B528-0BE03EFC0B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71151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23D2-8908-FD42-9DF9-736F8576D44E}" type="datetimeFigureOut">
              <a:rPr kumimoji="1" lang="ko-Kore-KR" altLang="en-US" smtClean="0"/>
              <a:t>11/5/24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94DA1-9AC8-2844-B528-0BE03EFC0B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03276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23D2-8908-FD42-9DF9-736F8576D44E}" type="datetimeFigureOut">
              <a:rPr kumimoji="1" lang="ko-Kore-KR" altLang="en-US" smtClean="0"/>
              <a:t>11/5/24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94DA1-9AC8-2844-B528-0BE03EFC0B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61440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23D2-8908-FD42-9DF9-736F8576D44E}" type="datetimeFigureOut">
              <a:rPr kumimoji="1" lang="ko-Kore-KR" altLang="en-US" smtClean="0"/>
              <a:t>11/5/24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94DA1-9AC8-2844-B528-0BE03EFC0B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34190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23D2-8908-FD42-9DF9-736F8576D44E}" type="datetimeFigureOut">
              <a:rPr kumimoji="1" lang="ko-Kore-KR" altLang="en-US" smtClean="0"/>
              <a:t>11/5/24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94DA1-9AC8-2844-B528-0BE03EFC0B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35754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23D2-8908-FD42-9DF9-736F8576D44E}" type="datetimeFigureOut">
              <a:rPr kumimoji="1" lang="ko-Kore-KR" altLang="en-US" smtClean="0"/>
              <a:t>11/5/24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94DA1-9AC8-2844-B528-0BE03EFC0B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08401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23D2-8908-FD42-9DF9-736F8576D44E}" type="datetimeFigureOut">
              <a:rPr kumimoji="1" lang="ko-Kore-KR" altLang="en-US" smtClean="0"/>
              <a:t>11/5/24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94DA1-9AC8-2844-B528-0BE03EFC0B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15182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23D2-8908-FD42-9DF9-736F8576D44E}" type="datetimeFigureOut">
              <a:rPr kumimoji="1" lang="ko-Kore-KR" altLang="en-US" smtClean="0"/>
              <a:t>11/5/24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94DA1-9AC8-2844-B528-0BE03EFC0B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7873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23D2-8908-FD42-9DF9-736F8576D44E}" type="datetimeFigureOut">
              <a:rPr kumimoji="1" lang="ko-Kore-KR" altLang="en-US" smtClean="0"/>
              <a:t>11/5/24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94DA1-9AC8-2844-B528-0BE03EFC0B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811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D23D2-8908-FD42-9DF9-736F8576D44E}" type="datetimeFigureOut">
              <a:rPr kumimoji="1" lang="ko-Kore-KR" altLang="en-US" smtClean="0"/>
              <a:t>11/5/24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94DA1-9AC8-2844-B528-0BE03EFC0B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32478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emf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3.jpeg"/><Relationship Id="rId12" Type="http://schemas.openxmlformats.org/officeDocument/2006/relationships/image" Target="../media/image28.jpeg"/><Relationship Id="rId17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11" Type="http://schemas.openxmlformats.org/officeDocument/2006/relationships/image" Target="../media/image27.jpeg"/><Relationship Id="rId5" Type="http://schemas.openxmlformats.org/officeDocument/2006/relationships/image" Target="../media/image22.jpe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1.jpe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53.png"/><Relationship Id="rId34" Type="http://schemas.openxmlformats.org/officeDocument/2006/relationships/image" Target="../media/image66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5" Type="http://schemas.openxmlformats.org/officeDocument/2006/relationships/image" Target="../media/image57.png"/><Relationship Id="rId33" Type="http://schemas.openxmlformats.org/officeDocument/2006/relationships/image" Target="../media/image6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29" Type="http://schemas.openxmlformats.org/officeDocument/2006/relationships/image" Target="../media/image61.png"/><Relationship Id="rId1" Type="http://schemas.openxmlformats.org/officeDocument/2006/relationships/tags" Target="../tags/tag3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24" Type="http://schemas.openxmlformats.org/officeDocument/2006/relationships/image" Target="../media/image56.png"/><Relationship Id="rId32" Type="http://schemas.openxmlformats.org/officeDocument/2006/relationships/image" Target="../media/image64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28" Type="http://schemas.openxmlformats.org/officeDocument/2006/relationships/image" Target="../media/image60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31" Type="http://schemas.openxmlformats.org/officeDocument/2006/relationships/image" Target="../media/image63.png"/><Relationship Id="rId4" Type="http://schemas.openxmlformats.org/officeDocument/2006/relationships/image" Target="../media/image2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png"/><Relationship Id="rId30" Type="http://schemas.openxmlformats.org/officeDocument/2006/relationships/image" Target="../media/image62.gif"/><Relationship Id="rId8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69.png"/><Relationship Id="rId5" Type="http://schemas.openxmlformats.org/officeDocument/2006/relationships/image" Target="../media/image59.png"/><Relationship Id="rId10" Type="http://schemas.openxmlformats.org/officeDocument/2006/relationships/image" Target="../media/image68.png"/><Relationship Id="rId4" Type="http://schemas.openxmlformats.org/officeDocument/2006/relationships/image" Target="../media/image58.png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2.png"/><Relationship Id="rId10" Type="http://schemas.openxmlformats.org/officeDocument/2006/relationships/image" Target="../media/image76.png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8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2.png"/><Relationship Id="rId9" Type="http://schemas.openxmlformats.org/officeDocument/2006/relationships/image" Target="../media/image8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2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text on a black background&#10;&#10;Description automatically generated">
            <a:extLst>
              <a:ext uri="{FF2B5EF4-FFF2-40B4-BE49-F238E27FC236}">
                <a16:creationId xmlns:a16="http://schemas.microsoft.com/office/drawing/2014/main" id="{B28101F0-35BB-32C2-877A-8B199931D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6" y="5512622"/>
            <a:ext cx="1620714" cy="11247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2A3D12-D274-3014-CE58-3261703F4BD2}"/>
              </a:ext>
            </a:extLst>
          </p:cNvPr>
          <p:cNvSpPr txBox="1"/>
          <p:nvPr/>
        </p:nvSpPr>
        <p:spPr>
          <a:xfrm>
            <a:off x="2505333" y="2659559"/>
            <a:ext cx="74318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>
                <a:latin typeface="Jalnan OTF" panose="020B0600000101010101" pitchFamily="34" charset="-127"/>
                <a:ea typeface="Jalnan OTF" panose="020B0600000101010101" pitchFamily="34" charset="-127"/>
              </a:rPr>
              <a:t>경북대학교 동문 선배 멘토링</a:t>
            </a:r>
            <a:endParaRPr lang="en-KR" sz="4400" dirty="0">
              <a:latin typeface="Jalnan OTF" panose="020B0600000101010101" pitchFamily="34" charset="-127"/>
              <a:ea typeface="Jalnan OTF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472E8-A83F-F9CF-1AE1-7B721019462D}"/>
              </a:ext>
            </a:extLst>
          </p:cNvPr>
          <p:cNvSpPr txBox="1"/>
          <p:nvPr/>
        </p:nvSpPr>
        <p:spPr>
          <a:xfrm>
            <a:off x="5611447" y="5489858"/>
            <a:ext cx="6255239" cy="1106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400" dirty="0">
                <a:latin typeface="Jalnan OTF" panose="020B0600000101010101" pitchFamily="34" charset="-127"/>
                <a:ea typeface="Jalnan OTF" panose="020B0600000101010101" pitchFamily="34" charset="-127"/>
              </a:rPr>
              <a:t>LG</a:t>
            </a:r>
            <a:r>
              <a:rPr lang="ko-KR" altLang="en-US" sz="2400" dirty="0">
                <a:latin typeface="Jalnan OTF" panose="020B0600000101010101" pitchFamily="34" charset="-127"/>
                <a:ea typeface="Jalnan OTF" panose="020B0600000101010101" pitchFamily="34" charset="-127"/>
              </a:rPr>
              <a:t>전자 </a:t>
            </a:r>
            <a:r>
              <a:rPr lang="en-US" altLang="ko-KR" sz="2400" dirty="0">
                <a:latin typeface="Jalnan OTF" panose="020B0600000101010101" pitchFamily="34" charset="-127"/>
                <a:ea typeface="Jalnan OTF" panose="020B0600000101010101" pitchFamily="34" charset="-127"/>
              </a:rPr>
              <a:t>H&amp;A </a:t>
            </a:r>
            <a:r>
              <a:rPr lang="ko-KR" altLang="en-US" sz="2400" dirty="0">
                <a:latin typeface="Jalnan OTF" panose="020B0600000101010101" pitchFamily="34" charset="-127"/>
                <a:ea typeface="Jalnan OTF" panose="020B0600000101010101" pitchFamily="34" charset="-127"/>
              </a:rPr>
              <a:t>사업본부 네트워크 제어개발팀</a:t>
            </a:r>
            <a:endParaRPr lang="en-US" altLang="ko-KR" sz="2400" dirty="0">
              <a:latin typeface="Jalnan OTF" panose="020B0600000101010101" pitchFamily="34" charset="-127"/>
              <a:ea typeface="Jalnan OTF" panose="020B0600000101010101" pitchFamily="34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2400" dirty="0">
                <a:latin typeface="Jalnan OTF" panose="020B0600000101010101" pitchFamily="34" charset="-127"/>
                <a:ea typeface="Jalnan OTF" panose="020B0600000101010101" pitchFamily="34" charset="-127"/>
              </a:rPr>
              <a:t>김민지 연구원</a:t>
            </a:r>
            <a:endParaRPr lang="en-KR" sz="2400" dirty="0">
              <a:latin typeface="Jalnan OTF" panose="020B0600000101010101" pitchFamily="34" charset="-127"/>
              <a:ea typeface="Jalnan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9490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B86B90-21C9-BD66-51B9-528D653F2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4DBA669-A7FB-EC0F-16E7-ED4C69D2C06B}"/>
              </a:ext>
            </a:extLst>
          </p:cNvPr>
          <p:cNvSpPr/>
          <p:nvPr/>
        </p:nvSpPr>
        <p:spPr>
          <a:xfrm>
            <a:off x="-2" y="0"/>
            <a:ext cx="12192002" cy="578949"/>
          </a:xfrm>
          <a:prstGeom prst="rect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3">
            <a:extLst>
              <a:ext uri="{FF2B5EF4-FFF2-40B4-BE49-F238E27FC236}">
                <a16:creationId xmlns:a16="http://schemas.microsoft.com/office/drawing/2014/main" id="{107CB2BB-7865-9E89-341A-9F6CBEC9B721}"/>
              </a:ext>
            </a:extLst>
          </p:cNvPr>
          <p:cNvSpPr/>
          <p:nvPr/>
        </p:nvSpPr>
        <p:spPr>
          <a:xfrm>
            <a:off x="1914515" y="142912"/>
            <a:ext cx="1336685" cy="313376"/>
          </a:xfrm>
          <a:prstGeom prst="roundRect">
            <a:avLst>
              <a:gd name="adj" fmla="val 360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6180E-800D-3518-B537-39701B126EE0}"/>
              </a:ext>
            </a:extLst>
          </p:cNvPr>
          <p:cNvSpPr txBox="1"/>
          <p:nvPr/>
        </p:nvSpPr>
        <p:spPr>
          <a:xfrm>
            <a:off x="1962864" y="134575"/>
            <a:ext cx="304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rgbClr val="E10045"/>
                </a:solidFill>
              </a:rPr>
              <a:t>1.</a:t>
            </a:r>
            <a:endParaRPr lang="ko-KR" altLang="en-US" sz="1600" b="1" spc="-150" dirty="0">
              <a:solidFill>
                <a:srgbClr val="E1004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4154D7-1CE0-0D09-9558-B0C23FA69497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4A182-1B7A-5B50-CCBA-AA54EB401E2A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FB2B96-2F5F-44A1-CAC7-4FEC283046AA}"/>
              </a:ext>
            </a:extLst>
          </p:cNvPr>
          <p:cNvSpPr txBox="1"/>
          <p:nvPr/>
        </p:nvSpPr>
        <p:spPr>
          <a:xfrm>
            <a:off x="6205270" y="14996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5899D1-6009-58C3-D9E3-546E3F5CC343}"/>
              </a:ext>
            </a:extLst>
          </p:cNvPr>
          <p:cNvSpPr txBox="1"/>
          <p:nvPr/>
        </p:nvSpPr>
        <p:spPr>
          <a:xfrm>
            <a:off x="2247022" y="154132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rgbClr val="E10045"/>
                </a:solidFill>
                <a:latin typeface="+mn-ea"/>
              </a:rPr>
              <a:t>자기 소개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3C7AC5-8E0F-E8F6-3246-FAC196239BC8}"/>
              </a:ext>
            </a:extLst>
          </p:cNvPr>
          <p:cNvSpPr txBox="1"/>
          <p:nvPr/>
        </p:nvSpPr>
        <p:spPr>
          <a:xfrm>
            <a:off x="4242916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논문 요약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B20B503-C913-36C0-FAA4-450889AA895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18636"/>
            <a:ext cx="517413" cy="3385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F1B357-5942-ADD2-477D-1FC787AFDAB8}"/>
              </a:ext>
            </a:extLst>
          </p:cNvPr>
          <p:cNvSpPr txBox="1"/>
          <p:nvPr/>
        </p:nvSpPr>
        <p:spPr>
          <a:xfrm>
            <a:off x="7875680" y="13253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D1CFA-F5A2-6583-D204-DAAC2E480713}"/>
              </a:ext>
            </a:extLst>
          </p:cNvPr>
          <p:cNvSpPr txBox="1"/>
          <p:nvPr/>
        </p:nvSpPr>
        <p:spPr>
          <a:xfrm>
            <a:off x="8157518" y="15921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 방안</a:t>
            </a:r>
          </a:p>
        </p:txBody>
      </p:sp>
      <p:pic>
        <p:nvPicPr>
          <p:cNvPr id="20" name="Picture 19" descr="A person with long black hair&#10;&#10;Description automatically generated">
            <a:extLst>
              <a:ext uri="{FF2B5EF4-FFF2-40B4-BE49-F238E27FC236}">
                <a16:creationId xmlns:a16="http://schemas.microsoft.com/office/drawing/2014/main" id="{7F580882-F14B-E957-9285-5C513148DF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304"/>
          <a:stretch/>
        </p:blipFill>
        <p:spPr>
          <a:xfrm>
            <a:off x="2175243" y="2071008"/>
            <a:ext cx="1746774" cy="231851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33BD5F5-34A2-DD5B-3A62-C5A9C59CE3E8}"/>
              </a:ext>
            </a:extLst>
          </p:cNvPr>
          <p:cNvCxnSpPr>
            <a:cxnSpLocks/>
          </p:cNvCxnSpPr>
          <p:nvPr/>
        </p:nvCxnSpPr>
        <p:spPr>
          <a:xfrm>
            <a:off x="6055636" y="1928880"/>
            <a:ext cx="0" cy="4576719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41B679-7ED7-4B0D-56ED-FC9AC5C9C334}"/>
              </a:ext>
            </a:extLst>
          </p:cNvPr>
          <p:cNvSpPr txBox="1"/>
          <p:nvPr/>
        </p:nvSpPr>
        <p:spPr>
          <a:xfrm>
            <a:off x="654831" y="4554886"/>
            <a:ext cx="3297372" cy="1702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이름 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: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 김민지</a:t>
            </a:r>
            <a:endParaRPr lang="en-US" dirty="0">
              <a:latin typeface="LG EI Text Regular" panose="020B0500000101010101" pitchFamily="34" charset="-127"/>
              <a:ea typeface="LG EI Text Regular" panose="020B05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나이 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: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 만 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24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세</a:t>
            </a:r>
            <a:endParaRPr lang="en-US" dirty="0">
              <a:latin typeface="LG EI Text Regular" panose="020B0500000101010101" pitchFamily="34" charset="-127"/>
              <a:ea typeface="LG EI Text Regular" panose="020B05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학부 졸업 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: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 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22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년 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8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월 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(19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학번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)</a:t>
            </a:r>
            <a:endParaRPr lang="en-US" dirty="0">
              <a:latin typeface="LG EI Text Regular" panose="020B0500000101010101" pitchFamily="34" charset="-127"/>
              <a:ea typeface="LG EI Text Regular" panose="020B05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석사 졸업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: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 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24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년 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2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월 </a:t>
            </a:r>
            <a:endParaRPr lang="en-KR" dirty="0">
              <a:latin typeface="LG EI Text Regular" panose="020B0500000101010101" pitchFamily="34" charset="-127"/>
              <a:ea typeface="LG EI Text Regular" panose="020B0500000101010101" pitchFamily="34" charset="-12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8869FBC-E8FC-D02A-8AEA-A6E62E7A03B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2468" y="3230267"/>
            <a:ext cx="2234306" cy="152085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A0AD690-8192-90F7-EF92-5E2EFCFFA56F}"/>
              </a:ext>
            </a:extLst>
          </p:cNvPr>
          <p:cNvSpPr txBox="1"/>
          <p:nvPr/>
        </p:nvSpPr>
        <p:spPr>
          <a:xfrm>
            <a:off x="6965132" y="1728389"/>
            <a:ext cx="4570156" cy="1287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전공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(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학사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)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 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: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 컴퓨터공학</a:t>
            </a:r>
            <a:endParaRPr lang="en-US" altLang="ko-KR" dirty="0">
              <a:latin typeface="LG EI Text Regular" panose="020B0500000101010101" pitchFamily="34" charset="-127"/>
              <a:ea typeface="LG EI Text Regular" panose="020B05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전공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(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석사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)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 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: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 컴퓨터공학 네트워크전공</a:t>
            </a:r>
            <a:endParaRPr lang="en-US" altLang="ko-KR" dirty="0">
              <a:latin typeface="LG EI Text Regular" panose="020B0500000101010101" pitchFamily="34" charset="-127"/>
              <a:ea typeface="LG EI Text Regular" panose="020B05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지도 교수 </a:t>
            </a: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:</a:t>
            </a: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 고 석주 교수님</a:t>
            </a:r>
            <a:endParaRPr lang="en-US" altLang="ko-KR" dirty="0">
              <a:latin typeface="LG EI Text Regular" panose="020B0500000101010101" pitchFamily="34" charset="-127"/>
              <a:ea typeface="LG EI Text Regular" panose="020B0500000101010101" pitchFamily="34" charset="-127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4136C62-DB27-C2AE-E184-7823404C6D9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5132" y="5079018"/>
            <a:ext cx="1821095" cy="138399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CF33E8A-61BE-D105-A280-4C06D848139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9621" y="5406145"/>
            <a:ext cx="2223758" cy="729744"/>
          </a:xfrm>
          <a:prstGeom prst="rect">
            <a:avLst/>
          </a:prstGeom>
        </p:spPr>
      </p:pic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47186048-5826-4D2A-25E4-643D32934848}"/>
              </a:ext>
            </a:extLst>
          </p:cNvPr>
          <p:cNvSpPr txBox="1">
            <a:spLocks/>
          </p:cNvSpPr>
          <p:nvPr/>
        </p:nvSpPr>
        <p:spPr>
          <a:xfrm>
            <a:off x="835320" y="1149440"/>
            <a:ext cx="8750503" cy="578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3300" b="1" dirty="0">
                <a:solidFill>
                  <a:srgbClr val="E10045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자기소개 부탁드립니다</a:t>
            </a:r>
            <a:r>
              <a:rPr kumimoji="1" lang="en-US" altLang="ko-KR" sz="3300" b="1" dirty="0">
                <a:solidFill>
                  <a:srgbClr val="E10045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67FF01-AE6B-7074-5BCC-ECC14C7B0BF7}"/>
              </a:ext>
            </a:extLst>
          </p:cNvPr>
          <p:cNvSpPr txBox="1"/>
          <p:nvPr/>
        </p:nvSpPr>
        <p:spPr>
          <a:xfrm>
            <a:off x="332862" y="627454"/>
            <a:ext cx="463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spc="-150" dirty="0">
                <a:solidFill>
                  <a:srgbClr val="E10045"/>
                </a:solidFill>
                <a:latin typeface="+mj-ea"/>
                <a:ea typeface="+mj-ea"/>
              </a:rPr>
              <a:t>1</a:t>
            </a:r>
            <a:endParaRPr lang="ko-KR" altLang="en-US" sz="9600" b="1" spc="-150" dirty="0">
              <a:solidFill>
                <a:srgbClr val="E10045"/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9037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86274-B5C0-63A6-C219-7555FAADB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C0EA3CB-236B-D8E6-1DFB-335FDE467A10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58CD9C-F905-837C-3239-D4186A806BC7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39891A-2BAC-ACF4-25C6-F6143569CC46}"/>
              </a:ext>
            </a:extLst>
          </p:cNvPr>
          <p:cNvSpPr txBox="1"/>
          <p:nvPr/>
        </p:nvSpPr>
        <p:spPr>
          <a:xfrm>
            <a:off x="6205270" y="14996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D5B235-DB28-B2C9-1762-4D6DF7B93547}"/>
              </a:ext>
            </a:extLst>
          </p:cNvPr>
          <p:cNvSpPr txBox="1"/>
          <p:nvPr/>
        </p:nvSpPr>
        <p:spPr>
          <a:xfrm>
            <a:off x="7338593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14E4A-F4C2-CA7C-6764-42A22355E1EA}"/>
              </a:ext>
            </a:extLst>
          </p:cNvPr>
          <p:cNvSpPr txBox="1"/>
          <p:nvPr/>
        </p:nvSpPr>
        <p:spPr>
          <a:xfrm>
            <a:off x="7654298" y="149964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기여방안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CC2F30-7D22-4FF1-75C6-89939506028F}"/>
              </a:ext>
            </a:extLst>
          </p:cNvPr>
          <p:cNvSpPr txBox="1"/>
          <p:nvPr/>
        </p:nvSpPr>
        <p:spPr>
          <a:xfrm>
            <a:off x="4242916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논문 요약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30697A19-E357-1BC9-0031-64F09A9D5F7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18636"/>
            <a:ext cx="517413" cy="338554"/>
          </a:xfrm>
          <a:prstGeom prst="rect">
            <a:avLst/>
          </a:prstGeom>
        </p:spPr>
      </p:pic>
      <p:sp>
        <p:nvSpPr>
          <p:cNvPr id="2082" name="직사각형 9">
            <a:extLst>
              <a:ext uri="{FF2B5EF4-FFF2-40B4-BE49-F238E27FC236}">
                <a16:creationId xmlns:a16="http://schemas.microsoft.com/office/drawing/2014/main" id="{BC8EB124-8A96-B4B2-7610-C79D4C5925AC}"/>
              </a:ext>
            </a:extLst>
          </p:cNvPr>
          <p:cNvSpPr/>
          <p:nvPr/>
        </p:nvSpPr>
        <p:spPr>
          <a:xfrm>
            <a:off x="-2" y="9186"/>
            <a:ext cx="12192002" cy="578949"/>
          </a:xfrm>
          <a:prstGeom prst="rect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E10045"/>
              </a:solidFill>
            </a:endParaRPr>
          </a:p>
        </p:txBody>
      </p:sp>
      <p:sp>
        <p:nvSpPr>
          <p:cNvPr id="2084" name="TextBox 2083">
            <a:extLst>
              <a:ext uri="{FF2B5EF4-FFF2-40B4-BE49-F238E27FC236}">
                <a16:creationId xmlns:a16="http://schemas.microsoft.com/office/drawing/2014/main" id="{5AF54F44-1E41-2FFD-178E-0766E2BEC8B7}"/>
              </a:ext>
            </a:extLst>
          </p:cNvPr>
          <p:cNvSpPr txBox="1"/>
          <p:nvPr/>
        </p:nvSpPr>
        <p:spPr>
          <a:xfrm>
            <a:off x="1962864" y="145323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2000"/>
                  </a:schemeClr>
                </a:solidFill>
              </a:rPr>
              <a:t>1 .</a:t>
            </a:r>
            <a:endParaRPr lang="ko-KR" altLang="en-US" sz="1600" b="1" spc="-150" dirty="0">
              <a:solidFill>
                <a:schemeClr val="bg1">
                  <a:alpha val="42000"/>
                </a:schemeClr>
              </a:solidFill>
            </a:endParaRPr>
          </a:p>
        </p:txBody>
      </p:sp>
      <p:sp>
        <p:nvSpPr>
          <p:cNvPr id="2090" name="TextBox 2089">
            <a:extLst>
              <a:ext uri="{FF2B5EF4-FFF2-40B4-BE49-F238E27FC236}">
                <a16:creationId xmlns:a16="http://schemas.microsoft.com/office/drawing/2014/main" id="{90D6E75D-5EE7-2EB5-68BB-33ACEDA11128}"/>
              </a:ext>
            </a:extLst>
          </p:cNvPr>
          <p:cNvSpPr txBox="1"/>
          <p:nvPr/>
        </p:nvSpPr>
        <p:spPr>
          <a:xfrm>
            <a:off x="2247022" y="164880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자기 소개</a:t>
            </a:r>
          </a:p>
        </p:txBody>
      </p:sp>
      <p:pic>
        <p:nvPicPr>
          <p:cNvPr id="2092" name="그림 33">
            <a:extLst>
              <a:ext uri="{FF2B5EF4-FFF2-40B4-BE49-F238E27FC236}">
                <a16:creationId xmlns:a16="http://schemas.microsoft.com/office/drawing/2014/main" id="{B70F6E1B-A4EF-23EA-7DBB-30FA93797E6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29384"/>
            <a:ext cx="517413" cy="338554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1841FA7-111C-9983-28A6-BDB36C09A4B5}"/>
              </a:ext>
            </a:extLst>
          </p:cNvPr>
          <p:cNvSpPr txBox="1">
            <a:spLocks/>
          </p:cNvSpPr>
          <p:nvPr/>
        </p:nvSpPr>
        <p:spPr>
          <a:xfrm>
            <a:off x="835320" y="1149440"/>
            <a:ext cx="8750503" cy="578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3300" b="1" dirty="0">
                <a:solidFill>
                  <a:srgbClr val="E10045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회사 및 직무 소개</a:t>
            </a:r>
            <a:endParaRPr kumimoji="1" lang="en-US" altLang="ko-KR" sz="3300" b="1" dirty="0">
              <a:solidFill>
                <a:srgbClr val="E10045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076F81-9503-3064-25DC-4CFF3BAA3BB1}"/>
              </a:ext>
            </a:extLst>
          </p:cNvPr>
          <p:cNvSpPr txBox="1"/>
          <p:nvPr/>
        </p:nvSpPr>
        <p:spPr>
          <a:xfrm>
            <a:off x="5878276" y="145864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241EE6-7403-12A2-418F-654E061A44F3}"/>
              </a:ext>
            </a:extLst>
          </p:cNvPr>
          <p:cNvSpPr txBox="1"/>
          <p:nvPr/>
        </p:nvSpPr>
        <p:spPr>
          <a:xfrm>
            <a:off x="6193981" y="161253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2FE732-C193-27E4-D3CB-910516FE9BBD}"/>
              </a:ext>
            </a:extLst>
          </p:cNvPr>
          <p:cNvSpPr txBox="1"/>
          <p:nvPr/>
        </p:nvSpPr>
        <p:spPr>
          <a:xfrm>
            <a:off x="7785368" y="13253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46344-19B1-C2A1-EAB6-7B269CA4C478}"/>
              </a:ext>
            </a:extLst>
          </p:cNvPr>
          <p:cNvSpPr txBox="1"/>
          <p:nvPr/>
        </p:nvSpPr>
        <p:spPr>
          <a:xfrm>
            <a:off x="8067206" y="15921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 방안</a:t>
            </a:r>
          </a:p>
        </p:txBody>
      </p:sp>
      <p:sp>
        <p:nvSpPr>
          <p:cNvPr id="23" name="사각형: 둥근 모서리 3">
            <a:extLst>
              <a:ext uri="{FF2B5EF4-FFF2-40B4-BE49-F238E27FC236}">
                <a16:creationId xmlns:a16="http://schemas.microsoft.com/office/drawing/2014/main" id="{202C8A55-54B8-DB20-BAED-E6FFF4C85BD2}"/>
              </a:ext>
            </a:extLst>
          </p:cNvPr>
          <p:cNvSpPr/>
          <p:nvPr/>
        </p:nvSpPr>
        <p:spPr>
          <a:xfrm>
            <a:off x="3832866" y="145323"/>
            <a:ext cx="1336685" cy="313376"/>
          </a:xfrm>
          <a:prstGeom prst="roundRect">
            <a:avLst>
              <a:gd name="adj" fmla="val 360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EF29D0-C649-E7C1-6B20-9685532DDE11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rgbClr val="E10045"/>
                </a:solidFill>
              </a:rPr>
              <a:t>2 .</a:t>
            </a:r>
            <a:endParaRPr lang="ko-KR" altLang="en-US" sz="1600" b="1" spc="-150" dirty="0">
              <a:solidFill>
                <a:srgbClr val="E1004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8670E3-606A-3DC8-94D1-10CEDA74F8FF}"/>
              </a:ext>
            </a:extLst>
          </p:cNvPr>
          <p:cNvSpPr txBox="1"/>
          <p:nvPr/>
        </p:nvSpPr>
        <p:spPr>
          <a:xfrm>
            <a:off x="4209049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rgbClr val="E10045"/>
                </a:solidFill>
                <a:latin typeface="+mn-ea"/>
              </a:rPr>
              <a:t>회사 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59D615-6A08-98BC-D9E9-A10FF479E14D}"/>
              </a:ext>
            </a:extLst>
          </p:cNvPr>
          <p:cNvSpPr txBox="1"/>
          <p:nvPr/>
        </p:nvSpPr>
        <p:spPr>
          <a:xfrm>
            <a:off x="332862" y="627454"/>
            <a:ext cx="463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spc="-150" dirty="0">
                <a:solidFill>
                  <a:srgbClr val="E10045"/>
                </a:solidFill>
                <a:latin typeface="+mj-ea"/>
                <a:ea typeface="+mj-ea"/>
              </a:rPr>
              <a:t>2</a:t>
            </a:r>
            <a:endParaRPr lang="ko-KR" altLang="en-US" sz="9600" b="1" spc="-150" dirty="0">
              <a:solidFill>
                <a:srgbClr val="E10045"/>
              </a:solidFill>
              <a:latin typeface="+mj-ea"/>
              <a:ea typeface="+mj-ea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F8309F2-C383-17C0-902D-0B27710CAD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8527"/>
          <a:stretch/>
        </p:blipFill>
        <p:spPr>
          <a:xfrm>
            <a:off x="666786" y="2142287"/>
            <a:ext cx="4029619" cy="103329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68D19D2-A3A2-A7E6-BD4B-90E53393B3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80" b="2754"/>
          <a:stretch/>
        </p:blipFill>
        <p:spPr>
          <a:xfrm>
            <a:off x="1433331" y="3641313"/>
            <a:ext cx="3882027" cy="2067247"/>
          </a:xfrm>
          <a:prstGeom prst="rect">
            <a:avLst/>
          </a:prstGeom>
        </p:spPr>
      </p:pic>
      <p:pic>
        <p:nvPicPr>
          <p:cNvPr id="48" name="Picture 47" descr="A close up of a card&#10;&#10;Description automatically generated">
            <a:extLst>
              <a:ext uri="{FF2B5EF4-FFF2-40B4-BE49-F238E27FC236}">
                <a16:creationId xmlns:a16="http://schemas.microsoft.com/office/drawing/2014/main" id="{82D761E3-03C0-7B08-1A08-573000BD83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723" r="10450" b="29270"/>
          <a:stretch/>
        </p:blipFill>
        <p:spPr>
          <a:xfrm rot="5400000">
            <a:off x="6636625" y="2568792"/>
            <a:ext cx="3914863" cy="306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609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23784-F042-2646-A051-B2563459F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FE2D467-57DA-9AAB-7F79-D526D8A5837E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5DB8E-1042-3828-3528-744B03972514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24B78-B18C-F8A4-5D18-5092B6119706}"/>
              </a:ext>
            </a:extLst>
          </p:cNvPr>
          <p:cNvSpPr txBox="1"/>
          <p:nvPr/>
        </p:nvSpPr>
        <p:spPr>
          <a:xfrm>
            <a:off x="6205270" y="14996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B4FB6E-E5C8-8493-FD4F-4596DE473DC7}"/>
              </a:ext>
            </a:extLst>
          </p:cNvPr>
          <p:cNvSpPr txBox="1"/>
          <p:nvPr/>
        </p:nvSpPr>
        <p:spPr>
          <a:xfrm>
            <a:off x="7338593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1B12A9-94A7-6B2C-470B-FC2240E6B973}"/>
              </a:ext>
            </a:extLst>
          </p:cNvPr>
          <p:cNvSpPr txBox="1"/>
          <p:nvPr/>
        </p:nvSpPr>
        <p:spPr>
          <a:xfrm>
            <a:off x="7654298" y="149964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기여방안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3BF08-3123-DF87-56EA-9E377E257119}"/>
              </a:ext>
            </a:extLst>
          </p:cNvPr>
          <p:cNvSpPr txBox="1"/>
          <p:nvPr/>
        </p:nvSpPr>
        <p:spPr>
          <a:xfrm>
            <a:off x="4242916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논문 요약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AE7835D3-6141-D2DD-4D69-4C72B277D8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18636"/>
            <a:ext cx="517413" cy="338554"/>
          </a:xfrm>
          <a:prstGeom prst="rect">
            <a:avLst/>
          </a:prstGeom>
        </p:spPr>
      </p:pic>
      <p:sp>
        <p:nvSpPr>
          <p:cNvPr id="2082" name="직사각형 9">
            <a:extLst>
              <a:ext uri="{FF2B5EF4-FFF2-40B4-BE49-F238E27FC236}">
                <a16:creationId xmlns:a16="http://schemas.microsoft.com/office/drawing/2014/main" id="{23A5CB38-4BB8-A078-63E2-3EA41620E3C4}"/>
              </a:ext>
            </a:extLst>
          </p:cNvPr>
          <p:cNvSpPr/>
          <p:nvPr/>
        </p:nvSpPr>
        <p:spPr>
          <a:xfrm>
            <a:off x="-2" y="9186"/>
            <a:ext cx="12192002" cy="578949"/>
          </a:xfrm>
          <a:prstGeom prst="rect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E10045"/>
              </a:solidFill>
            </a:endParaRPr>
          </a:p>
        </p:txBody>
      </p:sp>
      <p:sp>
        <p:nvSpPr>
          <p:cNvPr id="2084" name="TextBox 2083">
            <a:extLst>
              <a:ext uri="{FF2B5EF4-FFF2-40B4-BE49-F238E27FC236}">
                <a16:creationId xmlns:a16="http://schemas.microsoft.com/office/drawing/2014/main" id="{6247271B-61F2-DCD0-BEC1-BF8E2BDB9F30}"/>
              </a:ext>
            </a:extLst>
          </p:cNvPr>
          <p:cNvSpPr txBox="1"/>
          <p:nvPr/>
        </p:nvSpPr>
        <p:spPr>
          <a:xfrm>
            <a:off x="1962864" y="145323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2000"/>
                  </a:schemeClr>
                </a:solidFill>
              </a:rPr>
              <a:t>1 .</a:t>
            </a:r>
            <a:endParaRPr lang="ko-KR" altLang="en-US" sz="1600" b="1" spc="-150" dirty="0">
              <a:solidFill>
                <a:schemeClr val="bg1">
                  <a:alpha val="42000"/>
                </a:schemeClr>
              </a:solidFill>
            </a:endParaRPr>
          </a:p>
        </p:txBody>
      </p:sp>
      <p:sp>
        <p:nvSpPr>
          <p:cNvPr id="2090" name="TextBox 2089">
            <a:extLst>
              <a:ext uri="{FF2B5EF4-FFF2-40B4-BE49-F238E27FC236}">
                <a16:creationId xmlns:a16="http://schemas.microsoft.com/office/drawing/2014/main" id="{7F03628C-FAAE-B619-BC3B-1306A03FBCCF}"/>
              </a:ext>
            </a:extLst>
          </p:cNvPr>
          <p:cNvSpPr txBox="1"/>
          <p:nvPr/>
        </p:nvSpPr>
        <p:spPr>
          <a:xfrm>
            <a:off x="2247022" y="164880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자기 소개</a:t>
            </a:r>
          </a:p>
        </p:txBody>
      </p:sp>
      <p:pic>
        <p:nvPicPr>
          <p:cNvPr id="2092" name="그림 33">
            <a:extLst>
              <a:ext uri="{FF2B5EF4-FFF2-40B4-BE49-F238E27FC236}">
                <a16:creationId xmlns:a16="http://schemas.microsoft.com/office/drawing/2014/main" id="{98B38B25-4A7F-C4E9-F853-8A202C50452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29384"/>
            <a:ext cx="517413" cy="338554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AA2C986-CDEB-A399-00A7-E4474EFBAF5C}"/>
              </a:ext>
            </a:extLst>
          </p:cNvPr>
          <p:cNvSpPr txBox="1">
            <a:spLocks/>
          </p:cNvSpPr>
          <p:nvPr/>
        </p:nvSpPr>
        <p:spPr>
          <a:xfrm>
            <a:off x="835320" y="1149440"/>
            <a:ext cx="8750503" cy="578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3300" b="1" dirty="0">
                <a:solidFill>
                  <a:srgbClr val="E10045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회사 및 직무 소개</a:t>
            </a:r>
            <a:endParaRPr kumimoji="1" lang="en-US" altLang="ko-KR" sz="3300" b="1" dirty="0">
              <a:solidFill>
                <a:srgbClr val="E10045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F8ABDD-92B8-591A-D91A-16AABC0F68AF}"/>
              </a:ext>
            </a:extLst>
          </p:cNvPr>
          <p:cNvSpPr txBox="1"/>
          <p:nvPr/>
        </p:nvSpPr>
        <p:spPr>
          <a:xfrm>
            <a:off x="5878276" y="145864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D86659-314E-ACD9-27B0-C3FA16E611E8}"/>
              </a:ext>
            </a:extLst>
          </p:cNvPr>
          <p:cNvSpPr txBox="1"/>
          <p:nvPr/>
        </p:nvSpPr>
        <p:spPr>
          <a:xfrm>
            <a:off x="6193981" y="161253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3EC505-348E-A98D-60EA-99593C1EA357}"/>
              </a:ext>
            </a:extLst>
          </p:cNvPr>
          <p:cNvSpPr txBox="1"/>
          <p:nvPr/>
        </p:nvSpPr>
        <p:spPr>
          <a:xfrm>
            <a:off x="7785368" y="13253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5B6AB-3ADA-5DC4-8E9C-E8106FD8EB07}"/>
              </a:ext>
            </a:extLst>
          </p:cNvPr>
          <p:cNvSpPr txBox="1"/>
          <p:nvPr/>
        </p:nvSpPr>
        <p:spPr>
          <a:xfrm>
            <a:off x="8067206" y="15921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 방안</a:t>
            </a:r>
          </a:p>
        </p:txBody>
      </p:sp>
      <p:sp>
        <p:nvSpPr>
          <p:cNvPr id="23" name="사각형: 둥근 모서리 3">
            <a:extLst>
              <a:ext uri="{FF2B5EF4-FFF2-40B4-BE49-F238E27FC236}">
                <a16:creationId xmlns:a16="http://schemas.microsoft.com/office/drawing/2014/main" id="{163E2AEF-F84A-7535-18DD-B511A2B9636E}"/>
              </a:ext>
            </a:extLst>
          </p:cNvPr>
          <p:cNvSpPr/>
          <p:nvPr/>
        </p:nvSpPr>
        <p:spPr>
          <a:xfrm>
            <a:off x="3832866" y="145323"/>
            <a:ext cx="1336685" cy="313376"/>
          </a:xfrm>
          <a:prstGeom prst="roundRect">
            <a:avLst>
              <a:gd name="adj" fmla="val 360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51D62-FE23-9FFE-8DE2-0A104D6D4545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rgbClr val="E10045"/>
                </a:solidFill>
              </a:rPr>
              <a:t>2 .</a:t>
            </a:r>
            <a:endParaRPr lang="ko-KR" altLang="en-US" sz="1600" b="1" spc="-150" dirty="0">
              <a:solidFill>
                <a:srgbClr val="E1004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F65341-BD0A-B89B-32D3-75E81C948670}"/>
              </a:ext>
            </a:extLst>
          </p:cNvPr>
          <p:cNvSpPr txBox="1"/>
          <p:nvPr/>
        </p:nvSpPr>
        <p:spPr>
          <a:xfrm>
            <a:off x="4209049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rgbClr val="E10045"/>
                </a:solidFill>
                <a:latin typeface="+mn-ea"/>
              </a:rPr>
              <a:t>회사 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76A105-C55D-8923-FBE0-5175F968E4D9}"/>
              </a:ext>
            </a:extLst>
          </p:cNvPr>
          <p:cNvSpPr txBox="1"/>
          <p:nvPr/>
        </p:nvSpPr>
        <p:spPr>
          <a:xfrm>
            <a:off x="332862" y="627454"/>
            <a:ext cx="463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spc="-150" dirty="0">
                <a:solidFill>
                  <a:srgbClr val="E10045"/>
                </a:solidFill>
                <a:latin typeface="+mj-ea"/>
                <a:ea typeface="+mj-ea"/>
              </a:rPr>
              <a:t>2</a:t>
            </a:r>
            <a:endParaRPr lang="ko-KR" altLang="en-US" sz="9600" b="1" spc="-150" dirty="0">
              <a:solidFill>
                <a:srgbClr val="E10045"/>
              </a:solidFill>
              <a:latin typeface="+mj-ea"/>
              <a:ea typeface="+mj-ea"/>
            </a:endParaRPr>
          </a:p>
        </p:txBody>
      </p:sp>
      <p:pic>
        <p:nvPicPr>
          <p:cNvPr id="5" name="Picture 4" descr="A red rectangular card with white text&#10;&#10;Description automatically generated">
            <a:extLst>
              <a:ext uri="{FF2B5EF4-FFF2-40B4-BE49-F238E27FC236}">
                <a16:creationId xmlns:a16="http://schemas.microsoft.com/office/drawing/2014/main" id="{E9A73021-C372-46B3-A802-9B7A3D355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68" y="2236432"/>
            <a:ext cx="11783035" cy="4280481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63DE08-2A9B-68B3-AFB0-F2CA7CFE9BBE}"/>
              </a:ext>
            </a:extLst>
          </p:cNvPr>
          <p:cNvSpPr/>
          <p:nvPr/>
        </p:nvSpPr>
        <p:spPr>
          <a:xfrm>
            <a:off x="222068" y="2521527"/>
            <a:ext cx="2894103" cy="3809999"/>
          </a:xfrm>
          <a:prstGeom prst="roundRect">
            <a:avLst>
              <a:gd name="adj" fmla="val 1799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FF5B2E9-2666-7B88-5DE4-E8D52EBB165B}"/>
              </a:ext>
            </a:extLst>
          </p:cNvPr>
          <p:cNvSpPr/>
          <p:nvPr/>
        </p:nvSpPr>
        <p:spPr>
          <a:xfrm>
            <a:off x="3196571" y="2521527"/>
            <a:ext cx="2894103" cy="3809999"/>
          </a:xfrm>
          <a:prstGeom prst="roundRect">
            <a:avLst>
              <a:gd name="adj" fmla="val 1799"/>
            </a:avLst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DAC2BBD-9022-BFFF-0E5E-2BFEB3D76B56}"/>
              </a:ext>
            </a:extLst>
          </p:cNvPr>
          <p:cNvSpPr/>
          <p:nvPr/>
        </p:nvSpPr>
        <p:spPr>
          <a:xfrm>
            <a:off x="6113585" y="2521527"/>
            <a:ext cx="2894103" cy="3809999"/>
          </a:xfrm>
          <a:prstGeom prst="roundRect">
            <a:avLst>
              <a:gd name="adj" fmla="val 1799"/>
            </a:avLst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23F9769-2E56-1945-136C-BFDFBA8E2886}"/>
              </a:ext>
            </a:extLst>
          </p:cNvPr>
          <p:cNvSpPr/>
          <p:nvPr/>
        </p:nvSpPr>
        <p:spPr>
          <a:xfrm>
            <a:off x="9059344" y="2521526"/>
            <a:ext cx="2894103" cy="3809999"/>
          </a:xfrm>
          <a:prstGeom prst="roundRect">
            <a:avLst>
              <a:gd name="adj" fmla="val 1799"/>
            </a:avLst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92346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1" grpId="0" animBg="1"/>
      <p:bldP spid="22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9522A9-B140-442E-0D4F-D8B663999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8F1D653-831F-97FA-9DE0-E96D40D1F564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D64C7A-4581-0601-8804-6B246694EF6A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3AC489-E1B2-0A41-AFC8-8698E7ED8FC6}"/>
              </a:ext>
            </a:extLst>
          </p:cNvPr>
          <p:cNvSpPr txBox="1"/>
          <p:nvPr/>
        </p:nvSpPr>
        <p:spPr>
          <a:xfrm>
            <a:off x="6205270" y="14996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11E2A5-3AE9-0F54-2937-E29BC256CEF9}"/>
              </a:ext>
            </a:extLst>
          </p:cNvPr>
          <p:cNvSpPr txBox="1"/>
          <p:nvPr/>
        </p:nvSpPr>
        <p:spPr>
          <a:xfrm>
            <a:off x="7338593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6F01D9-47FD-9CF0-E3E2-42C6142454E7}"/>
              </a:ext>
            </a:extLst>
          </p:cNvPr>
          <p:cNvSpPr txBox="1"/>
          <p:nvPr/>
        </p:nvSpPr>
        <p:spPr>
          <a:xfrm>
            <a:off x="7654298" y="149964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기여방안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973542-0F60-F1CC-9E5E-33697EA4B5A2}"/>
              </a:ext>
            </a:extLst>
          </p:cNvPr>
          <p:cNvSpPr txBox="1"/>
          <p:nvPr/>
        </p:nvSpPr>
        <p:spPr>
          <a:xfrm>
            <a:off x="4242916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논문 요약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F9279871-3024-006D-BBE9-575BF690981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18636"/>
            <a:ext cx="517413" cy="338554"/>
          </a:xfrm>
          <a:prstGeom prst="rect">
            <a:avLst/>
          </a:prstGeom>
        </p:spPr>
      </p:pic>
      <p:sp>
        <p:nvSpPr>
          <p:cNvPr id="2082" name="직사각형 9">
            <a:extLst>
              <a:ext uri="{FF2B5EF4-FFF2-40B4-BE49-F238E27FC236}">
                <a16:creationId xmlns:a16="http://schemas.microsoft.com/office/drawing/2014/main" id="{FB3F9868-5372-8342-BF40-19684B4BB9DD}"/>
              </a:ext>
            </a:extLst>
          </p:cNvPr>
          <p:cNvSpPr/>
          <p:nvPr/>
        </p:nvSpPr>
        <p:spPr>
          <a:xfrm>
            <a:off x="-2" y="9186"/>
            <a:ext cx="12192002" cy="578949"/>
          </a:xfrm>
          <a:prstGeom prst="rect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E10045"/>
              </a:solidFill>
            </a:endParaRPr>
          </a:p>
        </p:txBody>
      </p:sp>
      <p:sp>
        <p:nvSpPr>
          <p:cNvPr id="2084" name="TextBox 2083">
            <a:extLst>
              <a:ext uri="{FF2B5EF4-FFF2-40B4-BE49-F238E27FC236}">
                <a16:creationId xmlns:a16="http://schemas.microsoft.com/office/drawing/2014/main" id="{A12156CC-CB2B-CB68-9780-36B938C32108}"/>
              </a:ext>
            </a:extLst>
          </p:cNvPr>
          <p:cNvSpPr txBox="1"/>
          <p:nvPr/>
        </p:nvSpPr>
        <p:spPr>
          <a:xfrm>
            <a:off x="1962864" y="145323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2000"/>
                  </a:schemeClr>
                </a:solidFill>
              </a:rPr>
              <a:t>1 .</a:t>
            </a:r>
            <a:endParaRPr lang="ko-KR" altLang="en-US" sz="1600" b="1" spc="-150" dirty="0">
              <a:solidFill>
                <a:schemeClr val="bg1">
                  <a:alpha val="42000"/>
                </a:schemeClr>
              </a:solidFill>
            </a:endParaRPr>
          </a:p>
        </p:txBody>
      </p:sp>
      <p:sp>
        <p:nvSpPr>
          <p:cNvPr id="2090" name="TextBox 2089">
            <a:extLst>
              <a:ext uri="{FF2B5EF4-FFF2-40B4-BE49-F238E27FC236}">
                <a16:creationId xmlns:a16="http://schemas.microsoft.com/office/drawing/2014/main" id="{871908C8-D69B-9CC1-8A39-27C619112AC7}"/>
              </a:ext>
            </a:extLst>
          </p:cNvPr>
          <p:cNvSpPr txBox="1"/>
          <p:nvPr/>
        </p:nvSpPr>
        <p:spPr>
          <a:xfrm>
            <a:off x="2247022" y="164880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자기 소개</a:t>
            </a:r>
          </a:p>
        </p:txBody>
      </p:sp>
      <p:pic>
        <p:nvPicPr>
          <p:cNvPr id="2092" name="그림 33">
            <a:extLst>
              <a:ext uri="{FF2B5EF4-FFF2-40B4-BE49-F238E27FC236}">
                <a16:creationId xmlns:a16="http://schemas.microsoft.com/office/drawing/2014/main" id="{3EAFDC79-9E3A-8749-41BB-E6BCBFC854D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29384"/>
            <a:ext cx="517413" cy="338554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97ECCF7-7DD8-ABE1-4FD9-B6F55F512A82}"/>
              </a:ext>
            </a:extLst>
          </p:cNvPr>
          <p:cNvSpPr txBox="1">
            <a:spLocks/>
          </p:cNvSpPr>
          <p:nvPr/>
        </p:nvSpPr>
        <p:spPr>
          <a:xfrm>
            <a:off x="835320" y="1149440"/>
            <a:ext cx="8750503" cy="578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3300" b="1" dirty="0">
                <a:solidFill>
                  <a:srgbClr val="E10045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회사 및 직무 소개</a:t>
            </a:r>
            <a:endParaRPr kumimoji="1" lang="en-US" altLang="ko-KR" sz="3300" b="1" dirty="0">
              <a:solidFill>
                <a:srgbClr val="E10045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E9C6A4-016F-8166-9A7D-E7AAE80BEFB1}"/>
              </a:ext>
            </a:extLst>
          </p:cNvPr>
          <p:cNvSpPr txBox="1"/>
          <p:nvPr/>
        </p:nvSpPr>
        <p:spPr>
          <a:xfrm>
            <a:off x="5878276" y="145864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294D9-295B-02CC-50EC-60C61504CA34}"/>
              </a:ext>
            </a:extLst>
          </p:cNvPr>
          <p:cNvSpPr txBox="1"/>
          <p:nvPr/>
        </p:nvSpPr>
        <p:spPr>
          <a:xfrm>
            <a:off x="6193981" y="161253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78FD32-FC31-F43B-6B0B-A7E3C0785864}"/>
              </a:ext>
            </a:extLst>
          </p:cNvPr>
          <p:cNvSpPr txBox="1"/>
          <p:nvPr/>
        </p:nvSpPr>
        <p:spPr>
          <a:xfrm>
            <a:off x="7785368" y="13253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046586-FF6C-418B-6994-EB3889878B1A}"/>
              </a:ext>
            </a:extLst>
          </p:cNvPr>
          <p:cNvSpPr txBox="1"/>
          <p:nvPr/>
        </p:nvSpPr>
        <p:spPr>
          <a:xfrm>
            <a:off x="8067206" y="15921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 방안</a:t>
            </a:r>
          </a:p>
        </p:txBody>
      </p:sp>
      <p:sp>
        <p:nvSpPr>
          <p:cNvPr id="23" name="사각형: 둥근 모서리 3">
            <a:extLst>
              <a:ext uri="{FF2B5EF4-FFF2-40B4-BE49-F238E27FC236}">
                <a16:creationId xmlns:a16="http://schemas.microsoft.com/office/drawing/2014/main" id="{CA9E1C2C-8DCF-9614-B1BF-062C389C7332}"/>
              </a:ext>
            </a:extLst>
          </p:cNvPr>
          <p:cNvSpPr/>
          <p:nvPr/>
        </p:nvSpPr>
        <p:spPr>
          <a:xfrm>
            <a:off x="3832866" y="145323"/>
            <a:ext cx="1336685" cy="313376"/>
          </a:xfrm>
          <a:prstGeom prst="roundRect">
            <a:avLst>
              <a:gd name="adj" fmla="val 360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FB2E5E-572A-B18F-1FC1-23898D2ED36E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rgbClr val="E10045"/>
                </a:solidFill>
              </a:rPr>
              <a:t>2 .</a:t>
            </a:r>
            <a:endParaRPr lang="ko-KR" altLang="en-US" sz="1600" b="1" spc="-150" dirty="0">
              <a:solidFill>
                <a:srgbClr val="E1004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B8BAFD-9AC0-079D-FE49-D2DF4C720E44}"/>
              </a:ext>
            </a:extLst>
          </p:cNvPr>
          <p:cNvSpPr txBox="1"/>
          <p:nvPr/>
        </p:nvSpPr>
        <p:spPr>
          <a:xfrm>
            <a:off x="4209049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rgbClr val="E10045"/>
                </a:solidFill>
                <a:latin typeface="+mn-ea"/>
              </a:rPr>
              <a:t>회사 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FD806-E997-823B-F311-E0D987F9EB93}"/>
              </a:ext>
            </a:extLst>
          </p:cNvPr>
          <p:cNvSpPr txBox="1"/>
          <p:nvPr/>
        </p:nvSpPr>
        <p:spPr>
          <a:xfrm>
            <a:off x="332862" y="627454"/>
            <a:ext cx="463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spc="-150" dirty="0">
                <a:solidFill>
                  <a:srgbClr val="E10045"/>
                </a:solidFill>
                <a:latin typeface="+mj-ea"/>
                <a:ea typeface="+mj-ea"/>
              </a:rPr>
              <a:t>2</a:t>
            </a:r>
            <a:endParaRPr lang="ko-KR" altLang="en-US" sz="9600" b="1" spc="-150" dirty="0">
              <a:solidFill>
                <a:srgbClr val="E10045"/>
              </a:solidFill>
              <a:latin typeface="+mj-ea"/>
              <a:ea typeface="+mj-ea"/>
            </a:endParaRPr>
          </a:p>
        </p:txBody>
      </p:sp>
      <p:pic>
        <p:nvPicPr>
          <p:cNvPr id="9" name="Picture 8" descr="A map of south korea&#10;&#10;Description automatically generated">
            <a:extLst>
              <a:ext uri="{FF2B5EF4-FFF2-40B4-BE49-F238E27FC236}">
                <a16:creationId xmlns:a16="http://schemas.microsoft.com/office/drawing/2014/main" id="{2850437A-3362-923A-39BA-DCF701E84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137" y="2425125"/>
            <a:ext cx="3297372" cy="3822115"/>
          </a:xfrm>
          <a:prstGeom prst="rect">
            <a:avLst/>
          </a:prstGeom>
          <a:ln w="4127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A0CCC1-B207-9D01-AFD4-458E06DF4543}"/>
              </a:ext>
            </a:extLst>
          </p:cNvPr>
          <p:cNvSpPr txBox="1"/>
          <p:nvPr/>
        </p:nvSpPr>
        <p:spPr>
          <a:xfrm>
            <a:off x="480249" y="2197114"/>
            <a:ext cx="329737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가산 연구소와 창원 연구소</a:t>
            </a:r>
            <a:endParaRPr lang="en-KR" dirty="0">
              <a:latin typeface="LG EI Text Regular" panose="020B0500000101010101" pitchFamily="34" charset="-127"/>
              <a:ea typeface="LG EI Text Regular" panose="020B0500000101010101" pitchFamily="34" charset="-12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B4F417-22B3-CA3F-CF35-3EB6EA1D1AB6}"/>
              </a:ext>
            </a:extLst>
          </p:cNvPr>
          <p:cNvSpPr/>
          <p:nvPr/>
        </p:nvSpPr>
        <p:spPr>
          <a:xfrm>
            <a:off x="8786453" y="3429000"/>
            <a:ext cx="681666" cy="719805"/>
          </a:xfrm>
          <a:prstGeom prst="ellipse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9DD8BB-5557-8287-8D66-F516C2840B09}"/>
              </a:ext>
            </a:extLst>
          </p:cNvPr>
          <p:cNvCxnSpPr/>
          <p:nvPr/>
        </p:nvCxnSpPr>
        <p:spPr>
          <a:xfrm flipH="1">
            <a:off x="6385810" y="3777521"/>
            <a:ext cx="2338465" cy="0"/>
          </a:xfrm>
          <a:prstGeom prst="line">
            <a:avLst/>
          </a:prstGeom>
          <a:ln w="476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2BA7DF6A-7BF0-6445-3689-8E975B1E73CD}"/>
              </a:ext>
            </a:extLst>
          </p:cNvPr>
          <p:cNvSpPr/>
          <p:nvPr/>
        </p:nvSpPr>
        <p:spPr>
          <a:xfrm>
            <a:off x="9778298" y="5020453"/>
            <a:ext cx="681666" cy="719805"/>
          </a:xfrm>
          <a:prstGeom prst="ellipse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56FAC52-78EC-1A68-0A02-3A42CAD2F3C7}"/>
              </a:ext>
            </a:extLst>
          </p:cNvPr>
          <p:cNvCxnSpPr>
            <a:cxnSpLocks/>
          </p:cNvCxnSpPr>
          <p:nvPr/>
        </p:nvCxnSpPr>
        <p:spPr>
          <a:xfrm flipH="1">
            <a:off x="7377655" y="5368974"/>
            <a:ext cx="2338465" cy="0"/>
          </a:xfrm>
          <a:prstGeom prst="line">
            <a:avLst/>
          </a:prstGeom>
          <a:ln w="476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3AC590C-99D3-B412-1A56-CB629DCF129A}"/>
              </a:ext>
            </a:extLst>
          </p:cNvPr>
          <p:cNvSpPr txBox="1"/>
          <p:nvPr/>
        </p:nvSpPr>
        <p:spPr>
          <a:xfrm>
            <a:off x="5112065" y="3488960"/>
            <a:ext cx="1446860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가산 연구소</a:t>
            </a:r>
            <a:endParaRPr lang="en-KR" dirty="0">
              <a:latin typeface="LG EI Text Regular" panose="020B0500000101010101" pitchFamily="34" charset="-127"/>
              <a:ea typeface="LG EI Text Regular" panose="020B0500000101010101" pitchFamily="34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91ED49-ACA1-280E-0988-217FCAE68B72}"/>
              </a:ext>
            </a:extLst>
          </p:cNvPr>
          <p:cNvSpPr txBox="1"/>
          <p:nvPr/>
        </p:nvSpPr>
        <p:spPr>
          <a:xfrm>
            <a:off x="6133276" y="5093060"/>
            <a:ext cx="1446860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창원 연구소</a:t>
            </a:r>
            <a:endParaRPr lang="en-KR" dirty="0">
              <a:latin typeface="LG EI Text Regular" panose="020B0500000101010101" pitchFamily="34" charset="-127"/>
              <a:ea typeface="LG EI Text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487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2984A-8D98-4488-17B8-9A35CD40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BF23864-BB83-85C4-8195-0DA45D207773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1D1D3-AC43-D3C6-FE15-811782307C7F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1DE1A9-4F51-FC38-AA83-23DB1FD6D6B3}"/>
              </a:ext>
            </a:extLst>
          </p:cNvPr>
          <p:cNvSpPr txBox="1"/>
          <p:nvPr/>
        </p:nvSpPr>
        <p:spPr>
          <a:xfrm>
            <a:off x="6205270" y="14996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9128D2-A1C1-F0F8-10FB-1AF11CA3A85D}"/>
              </a:ext>
            </a:extLst>
          </p:cNvPr>
          <p:cNvSpPr txBox="1"/>
          <p:nvPr/>
        </p:nvSpPr>
        <p:spPr>
          <a:xfrm>
            <a:off x="7338593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A09C23-E8B8-A528-F029-AAEE2F07E097}"/>
              </a:ext>
            </a:extLst>
          </p:cNvPr>
          <p:cNvSpPr txBox="1"/>
          <p:nvPr/>
        </p:nvSpPr>
        <p:spPr>
          <a:xfrm>
            <a:off x="7654298" y="149964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기여방안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F5E8C6-CF2F-0CAD-4893-F4C4607473D0}"/>
              </a:ext>
            </a:extLst>
          </p:cNvPr>
          <p:cNvSpPr txBox="1"/>
          <p:nvPr/>
        </p:nvSpPr>
        <p:spPr>
          <a:xfrm>
            <a:off x="4242916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논문 요약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CC511D8-A43E-40BC-BB5B-ED382D9127F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18636"/>
            <a:ext cx="517413" cy="338554"/>
          </a:xfrm>
          <a:prstGeom prst="rect">
            <a:avLst/>
          </a:prstGeom>
        </p:spPr>
      </p:pic>
      <p:sp>
        <p:nvSpPr>
          <p:cNvPr id="2082" name="직사각형 9">
            <a:extLst>
              <a:ext uri="{FF2B5EF4-FFF2-40B4-BE49-F238E27FC236}">
                <a16:creationId xmlns:a16="http://schemas.microsoft.com/office/drawing/2014/main" id="{1881A0F1-10BA-C70B-4C32-6E559AC4BA8B}"/>
              </a:ext>
            </a:extLst>
          </p:cNvPr>
          <p:cNvSpPr/>
          <p:nvPr/>
        </p:nvSpPr>
        <p:spPr>
          <a:xfrm>
            <a:off x="-2" y="9186"/>
            <a:ext cx="12192002" cy="578949"/>
          </a:xfrm>
          <a:prstGeom prst="rect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E10045"/>
              </a:solidFill>
            </a:endParaRPr>
          </a:p>
        </p:txBody>
      </p:sp>
      <p:sp>
        <p:nvSpPr>
          <p:cNvPr id="2084" name="TextBox 2083">
            <a:extLst>
              <a:ext uri="{FF2B5EF4-FFF2-40B4-BE49-F238E27FC236}">
                <a16:creationId xmlns:a16="http://schemas.microsoft.com/office/drawing/2014/main" id="{D98D50D9-03CA-DEEA-66D3-754C08814257}"/>
              </a:ext>
            </a:extLst>
          </p:cNvPr>
          <p:cNvSpPr txBox="1"/>
          <p:nvPr/>
        </p:nvSpPr>
        <p:spPr>
          <a:xfrm>
            <a:off x="1962864" y="145323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2000"/>
                  </a:schemeClr>
                </a:solidFill>
              </a:rPr>
              <a:t>1 .</a:t>
            </a:r>
            <a:endParaRPr lang="ko-KR" altLang="en-US" sz="1600" b="1" spc="-150" dirty="0">
              <a:solidFill>
                <a:schemeClr val="bg1">
                  <a:alpha val="42000"/>
                </a:schemeClr>
              </a:solidFill>
            </a:endParaRPr>
          </a:p>
        </p:txBody>
      </p:sp>
      <p:sp>
        <p:nvSpPr>
          <p:cNvPr id="2090" name="TextBox 2089">
            <a:extLst>
              <a:ext uri="{FF2B5EF4-FFF2-40B4-BE49-F238E27FC236}">
                <a16:creationId xmlns:a16="http://schemas.microsoft.com/office/drawing/2014/main" id="{6B7271A0-6B5A-EC48-FB99-3E111FB5018E}"/>
              </a:ext>
            </a:extLst>
          </p:cNvPr>
          <p:cNvSpPr txBox="1"/>
          <p:nvPr/>
        </p:nvSpPr>
        <p:spPr>
          <a:xfrm>
            <a:off x="2247022" y="164880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자기 소개</a:t>
            </a:r>
          </a:p>
        </p:txBody>
      </p:sp>
      <p:pic>
        <p:nvPicPr>
          <p:cNvPr id="2092" name="그림 33">
            <a:extLst>
              <a:ext uri="{FF2B5EF4-FFF2-40B4-BE49-F238E27FC236}">
                <a16:creationId xmlns:a16="http://schemas.microsoft.com/office/drawing/2014/main" id="{571E11A8-909D-3CB9-44B5-5D366BC935F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29384"/>
            <a:ext cx="517413" cy="338554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C9E01F3-5FE6-F60D-46A7-E9EA15101BB0}"/>
              </a:ext>
            </a:extLst>
          </p:cNvPr>
          <p:cNvSpPr txBox="1">
            <a:spLocks/>
          </p:cNvSpPr>
          <p:nvPr/>
        </p:nvSpPr>
        <p:spPr>
          <a:xfrm>
            <a:off x="835320" y="1149440"/>
            <a:ext cx="8750503" cy="578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3300" b="1" dirty="0">
                <a:solidFill>
                  <a:srgbClr val="E10045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회사 및 직무 소개</a:t>
            </a:r>
            <a:endParaRPr kumimoji="1" lang="en-US" altLang="ko-KR" sz="3300" b="1" dirty="0">
              <a:solidFill>
                <a:srgbClr val="E10045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B04DBC-0608-4C05-BC19-1F823B238B3B}"/>
              </a:ext>
            </a:extLst>
          </p:cNvPr>
          <p:cNvSpPr txBox="1"/>
          <p:nvPr/>
        </p:nvSpPr>
        <p:spPr>
          <a:xfrm>
            <a:off x="5878276" y="145864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B07B2A-F657-FA04-BE9B-93EFDBF82036}"/>
              </a:ext>
            </a:extLst>
          </p:cNvPr>
          <p:cNvSpPr txBox="1"/>
          <p:nvPr/>
        </p:nvSpPr>
        <p:spPr>
          <a:xfrm>
            <a:off x="6193981" y="161253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2B7166-885A-996A-FBE5-7FDA00D726E0}"/>
              </a:ext>
            </a:extLst>
          </p:cNvPr>
          <p:cNvSpPr txBox="1"/>
          <p:nvPr/>
        </p:nvSpPr>
        <p:spPr>
          <a:xfrm>
            <a:off x="7785368" y="13253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3CF803-2C5C-1020-4254-E7BCDB6B8DE1}"/>
              </a:ext>
            </a:extLst>
          </p:cNvPr>
          <p:cNvSpPr txBox="1"/>
          <p:nvPr/>
        </p:nvSpPr>
        <p:spPr>
          <a:xfrm>
            <a:off x="8067206" y="15921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 방안</a:t>
            </a:r>
          </a:p>
        </p:txBody>
      </p:sp>
      <p:sp>
        <p:nvSpPr>
          <p:cNvPr id="23" name="사각형: 둥근 모서리 3">
            <a:extLst>
              <a:ext uri="{FF2B5EF4-FFF2-40B4-BE49-F238E27FC236}">
                <a16:creationId xmlns:a16="http://schemas.microsoft.com/office/drawing/2014/main" id="{AAC4BF2C-8B99-9CFB-1C3B-225E7AFC6671}"/>
              </a:ext>
            </a:extLst>
          </p:cNvPr>
          <p:cNvSpPr/>
          <p:nvPr/>
        </p:nvSpPr>
        <p:spPr>
          <a:xfrm>
            <a:off x="3832866" y="145323"/>
            <a:ext cx="1336685" cy="313376"/>
          </a:xfrm>
          <a:prstGeom prst="roundRect">
            <a:avLst>
              <a:gd name="adj" fmla="val 360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75F7A-6F83-1757-858F-A246DA52E534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rgbClr val="E10045"/>
                </a:solidFill>
              </a:rPr>
              <a:t>2 .</a:t>
            </a:r>
            <a:endParaRPr lang="ko-KR" altLang="en-US" sz="1600" b="1" spc="-150" dirty="0">
              <a:solidFill>
                <a:srgbClr val="E1004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514558-8A41-3C6A-07DE-C4AA24C0A667}"/>
              </a:ext>
            </a:extLst>
          </p:cNvPr>
          <p:cNvSpPr txBox="1"/>
          <p:nvPr/>
        </p:nvSpPr>
        <p:spPr>
          <a:xfrm>
            <a:off x="4209049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rgbClr val="E10045"/>
                </a:solidFill>
                <a:latin typeface="+mn-ea"/>
              </a:rPr>
              <a:t>회사 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86D729-79B4-B015-2A31-AD9808897501}"/>
              </a:ext>
            </a:extLst>
          </p:cNvPr>
          <p:cNvSpPr txBox="1"/>
          <p:nvPr/>
        </p:nvSpPr>
        <p:spPr>
          <a:xfrm>
            <a:off x="332862" y="627454"/>
            <a:ext cx="463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spc="-150" dirty="0">
                <a:solidFill>
                  <a:srgbClr val="E10045"/>
                </a:solidFill>
                <a:latin typeface="+mj-ea"/>
                <a:ea typeface="+mj-ea"/>
              </a:rPr>
              <a:t>2</a:t>
            </a:r>
            <a:endParaRPr lang="ko-KR" altLang="en-US" sz="9600" b="1" spc="-150" dirty="0">
              <a:solidFill>
                <a:srgbClr val="E10045"/>
              </a:solidFill>
              <a:latin typeface="+mj-ea"/>
              <a:ea typeface="+mj-e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29CCEAF-49D1-9843-F189-6510ADF3B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198" y="2401286"/>
            <a:ext cx="6673233" cy="4170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시스템에어컨 Digital국제공조(주)">
            <a:extLst>
              <a:ext uri="{FF2B5EF4-FFF2-40B4-BE49-F238E27FC236}">
                <a16:creationId xmlns:a16="http://schemas.microsoft.com/office/drawing/2014/main" id="{DA2CF78D-0D0F-E541-69C6-835F350AF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11" y="2197114"/>
            <a:ext cx="3825379" cy="428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591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6B7F-445A-5F6E-10D3-B21E64D9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3FF20A9-5959-23F7-869A-57031CC5BBF7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145E41-89E7-7911-99D5-C3968D68E2B1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FF14B8-D75B-0BCC-AA8D-F92937C59D05}"/>
              </a:ext>
            </a:extLst>
          </p:cNvPr>
          <p:cNvSpPr txBox="1"/>
          <p:nvPr/>
        </p:nvSpPr>
        <p:spPr>
          <a:xfrm>
            <a:off x="6205270" y="14996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3F6C68-DC33-7298-E660-7F20E3FE085D}"/>
              </a:ext>
            </a:extLst>
          </p:cNvPr>
          <p:cNvSpPr txBox="1"/>
          <p:nvPr/>
        </p:nvSpPr>
        <p:spPr>
          <a:xfrm>
            <a:off x="7338593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5A0FDE-25D9-F545-A9CA-89296D55CC88}"/>
              </a:ext>
            </a:extLst>
          </p:cNvPr>
          <p:cNvSpPr txBox="1"/>
          <p:nvPr/>
        </p:nvSpPr>
        <p:spPr>
          <a:xfrm>
            <a:off x="7654298" y="149964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기여방안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E26AFB-427D-881E-BCCB-103B486D613D}"/>
              </a:ext>
            </a:extLst>
          </p:cNvPr>
          <p:cNvSpPr txBox="1"/>
          <p:nvPr/>
        </p:nvSpPr>
        <p:spPr>
          <a:xfrm>
            <a:off x="4242916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논문 요약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7F90140-AD18-30A5-E56F-6C4160D4811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18636"/>
            <a:ext cx="517413" cy="338554"/>
          </a:xfrm>
          <a:prstGeom prst="rect">
            <a:avLst/>
          </a:prstGeom>
        </p:spPr>
      </p:pic>
      <p:sp>
        <p:nvSpPr>
          <p:cNvPr id="2082" name="직사각형 9">
            <a:extLst>
              <a:ext uri="{FF2B5EF4-FFF2-40B4-BE49-F238E27FC236}">
                <a16:creationId xmlns:a16="http://schemas.microsoft.com/office/drawing/2014/main" id="{3A6C5963-45B5-4EDB-D357-5BDB95C181BF}"/>
              </a:ext>
            </a:extLst>
          </p:cNvPr>
          <p:cNvSpPr/>
          <p:nvPr/>
        </p:nvSpPr>
        <p:spPr>
          <a:xfrm>
            <a:off x="-2" y="9186"/>
            <a:ext cx="12192002" cy="578949"/>
          </a:xfrm>
          <a:prstGeom prst="rect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E10045"/>
              </a:solidFill>
            </a:endParaRPr>
          </a:p>
        </p:txBody>
      </p:sp>
      <p:sp>
        <p:nvSpPr>
          <p:cNvPr id="2084" name="TextBox 2083">
            <a:extLst>
              <a:ext uri="{FF2B5EF4-FFF2-40B4-BE49-F238E27FC236}">
                <a16:creationId xmlns:a16="http://schemas.microsoft.com/office/drawing/2014/main" id="{9332BBAB-3F3B-3E05-2C30-D93C5A12F796}"/>
              </a:ext>
            </a:extLst>
          </p:cNvPr>
          <p:cNvSpPr txBox="1"/>
          <p:nvPr/>
        </p:nvSpPr>
        <p:spPr>
          <a:xfrm>
            <a:off x="1962864" y="145323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2000"/>
                  </a:schemeClr>
                </a:solidFill>
              </a:rPr>
              <a:t>1 .</a:t>
            </a:r>
            <a:endParaRPr lang="ko-KR" altLang="en-US" sz="1600" b="1" spc="-150" dirty="0">
              <a:solidFill>
                <a:schemeClr val="bg1">
                  <a:alpha val="42000"/>
                </a:schemeClr>
              </a:solidFill>
            </a:endParaRPr>
          </a:p>
        </p:txBody>
      </p:sp>
      <p:sp>
        <p:nvSpPr>
          <p:cNvPr id="2090" name="TextBox 2089">
            <a:extLst>
              <a:ext uri="{FF2B5EF4-FFF2-40B4-BE49-F238E27FC236}">
                <a16:creationId xmlns:a16="http://schemas.microsoft.com/office/drawing/2014/main" id="{E5DA6F35-14A2-3C0E-0210-A8FA64CE8AC2}"/>
              </a:ext>
            </a:extLst>
          </p:cNvPr>
          <p:cNvSpPr txBox="1"/>
          <p:nvPr/>
        </p:nvSpPr>
        <p:spPr>
          <a:xfrm>
            <a:off x="2247022" y="164880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자기 소개</a:t>
            </a:r>
          </a:p>
        </p:txBody>
      </p:sp>
      <p:pic>
        <p:nvPicPr>
          <p:cNvPr id="2092" name="그림 33">
            <a:extLst>
              <a:ext uri="{FF2B5EF4-FFF2-40B4-BE49-F238E27FC236}">
                <a16:creationId xmlns:a16="http://schemas.microsoft.com/office/drawing/2014/main" id="{E1F359D9-EA8E-A7D0-4372-6A60DB54F5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29384"/>
            <a:ext cx="517413" cy="338554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E7C87E3-E2AA-70BA-4B0E-B3D5F737BEAC}"/>
              </a:ext>
            </a:extLst>
          </p:cNvPr>
          <p:cNvSpPr txBox="1">
            <a:spLocks/>
          </p:cNvSpPr>
          <p:nvPr/>
        </p:nvSpPr>
        <p:spPr>
          <a:xfrm>
            <a:off x="835320" y="1149440"/>
            <a:ext cx="8750503" cy="578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3300" b="1" dirty="0">
                <a:solidFill>
                  <a:srgbClr val="E10045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회사 및 직무 소개</a:t>
            </a:r>
            <a:endParaRPr kumimoji="1" lang="en-US" altLang="ko-KR" sz="3300" b="1" dirty="0">
              <a:solidFill>
                <a:srgbClr val="E10045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B13316-7CB3-FC2F-75B5-26E12A67014F}"/>
              </a:ext>
            </a:extLst>
          </p:cNvPr>
          <p:cNvSpPr txBox="1"/>
          <p:nvPr/>
        </p:nvSpPr>
        <p:spPr>
          <a:xfrm>
            <a:off x="5878276" y="145864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BBF98F-9A23-B962-9748-EFA636ED36E4}"/>
              </a:ext>
            </a:extLst>
          </p:cNvPr>
          <p:cNvSpPr txBox="1"/>
          <p:nvPr/>
        </p:nvSpPr>
        <p:spPr>
          <a:xfrm>
            <a:off x="6193981" y="161253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9EEA2F-8178-1A23-4857-9C409604F9EF}"/>
              </a:ext>
            </a:extLst>
          </p:cNvPr>
          <p:cNvSpPr txBox="1"/>
          <p:nvPr/>
        </p:nvSpPr>
        <p:spPr>
          <a:xfrm>
            <a:off x="7785368" y="13253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79CCDD-5033-91D5-C413-2E8EE55293F5}"/>
              </a:ext>
            </a:extLst>
          </p:cNvPr>
          <p:cNvSpPr txBox="1"/>
          <p:nvPr/>
        </p:nvSpPr>
        <p:spPr>
          <a:xfrm>
            <a:off x="8067206" y="15921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 방안</a:t>
            </a:r>
          </a:p>
        </p:txBody>
      </p:sp>
      <p:sp>
        <p:nvSpPr>
          <p:cNvPr id="23" name="사각형: 둥근 모서리 3">
            <a:extLst>
              <a:ext uri="{FF2B5EF4-FFF2-40B4-BE49-F238E27FC236}">
                <a16:creationId xmlns:a16="http://schemas.microsoft.com/office/drawing/2014/main" id="{A97FCE0C-2A91-00E8-50C1-E6293690FF39}"/>
              </a:ext>
            </a:extLst>
          </p:cNvPr>
          <p:cNvSpPr/>
          <p:nvPr/>
        </p:nvSpPr>
        <p:spPr>
          <a:xfrm>
            <a:off x="3832866" y="145323"/>
            <a:ext cx="1336685" cy="313376"/>
          </a:xfrm>
          <a:prstGeom prst="roundRect">
            <a:avLst>
              <a:gd name="adj" fmla="val 360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74753D-5982-C5D6-2ABB-02273F640D97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rgbClr val="E10045"/>
                </a:solidFill>
              </a:rPr>
              <a:t>2 .</a:t>
            </a:r>
            <a:endParaRPr lang="ko-KR" altLang="en-US" sz="1600" b="1" spc="-150" dirty="0">
              <a:solidFill>
                <a:srgbClr val="E1004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32ADCF-FB9F-EBA1-883E-8C531BCE77A9}"/>
              </a:ext>
            </a:extLst>
          </p:cNvPr>
          <p:cNvSpPr txBox="1"/>
          <p:nvPr/>
        </p:nvSpPr>
        <p:spPr>
          <a:xfrm>
            <a:off x="4209049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rgbClr val="E10045"/>
                </a:solidFill>
                <a:latin typeface="+mn-ea"/>
              </a:rPr>
              <a:t>회사 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5FE83C-50A2-991E-8ACA-0091BFCD930C}"/>
              </a:ext>
            </a:extLst>
          </p:cNvPr>
          <p:cNvSpPr txBox="1"/>
          <p:nvPr/>
        </p:nvSpPr>
        <p:spPr>
          <a:xfrm>
            <a:off x="332862" y="627454"/>
            <a:ext cx="463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spc="-150" dirty="0">
                <a:solidFill>
                  <a:srgbClr val="E10045"/>
                </a:solidFill>
                <a:latin typeface="+mj-ea"/>
                <a:ea typeface="+mj-ea"/>
              </a:rPr>
              <a:t>2</a:t>
            </a:r>
            <a:endParaRPr lang="ko-KR" altLang="en-US" sz="9600" b="1" spc="-150" dirty="0">
              <a:solidFill>
                <a:srgbClr val="E10045"/>
              </a:solidFill>
              <a:latin typeface="+mj-ea"/>
              <a:ea typeface="+mj-e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BCB413-C721-2262-D676-F40194CA4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56" y="2214541"/>
            <a:ext cx="6637640" cy="41318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CA142B1-3810-6F84-E6F7-F6194C8FB97C}"/>
              </a:ext>
            </a:extLst>
          </p:cNvPr>
          <p:cNvSpPr/>
          <p:nvPr/>
        </p:nvSpPr>
        <p:spPr>
          <a:xfrm>
            <a:off x="2758830" y="5569526"/>
            <a:ext cx="1163187" cy="651164"/>
          </a:xfrm>
          <a:prstGeom prst="rect">
            <a:avLst/>
          </a:prstGeom>
          <a:noFill/>
          <a:ln w="57150">
            <a:solidFill>
              <a:srgbClr val="D90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DECEFC6F-7E36-C0FC-AE27-A03F2D1BF534}"/>
              </a:ext>
            </a:extLst>
          </p:cNvPr>
          <p:cNvSpPr/>
          <p:nvPr/>
        </p:nvSpPr>
        <p:spPr>
          <a:xfrm rot="16200000">
            <a:off x="5582906" y="4132859"/>
            <a:ext cx="593013" cy="3582648"/>
          </a:xfrm>
          <a:prstGeom prst="downArrow">
            <a:avLst/>
          </a:prstGeom>
          <a:solidFill>
            <a:srgbClr val="D90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8194" name="Picture 2" descr="LG to introduce new cutting-edge ACP 5 controller">
            <a:extLst>
              <a:ext uri="{FF2B5EF4-FFF2-40B4-BE49-F238E27FC236}">
                <a16:creationId xmlns:a16="http://schemas.microsoft.com/office/drawing/2014/main" id="{514A147B-A131-56A8-B881-F0DF4D2E3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439" y="2241550"/>
            <a:ext cx="3416300" cy="237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4ECEB7-A534-DA59-B69A-416325787638}"/>
              </a:ext>
            </a:extLst>
          </p:cNvPr>
          <p:cNvSpPr txBox="1"/>
          <p:nvPr/>
        </p:nvSpPr>
        <p:spPr>
          <a:xfrm>
            <a:off x="7951439" y="4549775"/>
            <a:ext cx="3824741" cy="1709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  <a:t>[ACP]</a:t>
            </a:r>
            <a:br>
              <a:rPr lang="en-US" altLang="ko-KR" dirty="0">
                <a:latin typeface="LG EI Text Regular" panose="020B0500000101010101" pitchFamily="34" charset="-127"/>
                <a:ea typeface="LG EI Text Regular" panose="020B0500000101010101" pitchFamily="34" charset="-127"/>
              </a:rPr>
            </a:br>
            <a:r>
              <a:rPr lang="ko-KR" altLang="en-US" dirty="0"/>
              <a:t>학교</a:t>
            </a:r>
            <a:r>
              <a:rPr lang="en-US" altLang="ko-KR" dirty="0"/>
              <a:t>,</a:t>
            </a:r>
            <a:r>
              <a:rPr lang="ko-KR" altLang="en-US" dirty="0"/>
              <a:t> 병원</a:t>
            </a:r>
            <a:r>
              <a:rPr lang="en-US" altLang="ko-KR" dirty="0"/>
              <a:t>,</a:t>
            </a:r>
            <a:r>
              <a:rPr lang="ko-KR" altLang="en-US" dirty="0"/>
              <a:t> 빌딩과 같은 대규모 공간에서 사용되는 </a:t>
            </a:r>
            <a:r>
              <a:rPr lang="ko-KR" altLang="en-US" b="1" dirty="0"/>
              <a:t>시스템 에어컨</a:t>
            </a:r>
            <a:r>
              <a:rPr lang="ko-KR" altLang="en-US" dirty="0"/>
              <a:t>의 효율적 관리를 위한 제어기</a:t>
            </a:r>
            <a:endParaRPr lang="en-US" altLang="ko-KR" dirty="0">
              <a:latin typeface="LG EI Text Regular" panose="020B0500000101010101" pitchFamily="34" charset="-127"/>
              <a:ea typeface="LG EI Text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1030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26E01-6277-9FB5-932C-00586654A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E688B5B-0D43-FC9F-D51B-63D11343FE16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A2103E-9402-5CDE-E784-A629106B1045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9509D9-488A-9319-3432-303FF48369D5}"/>
              </a:ext>
            </a:extLst>
          </p:cNvPr>
          <p:cNvSpPr txBox="1"/>
          <p:nvPr/>
        </p:nvSpPr>
        <p:spPr>
          <a:xfrm>
            <a:off x="6205270" y="14996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30CDE5-4970-9037-B538-6CEAF5E5366D}"/>
              </a:ext>
            </a:extLst>
          </p:cNvPr>
          <p:cNvSpPr txBox="1"/>
          <p:nvPr/>
        </p:nvSpPr>
        <p:spPr>
          <a:xfrm>
            <a:off x="7338593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6A86C9-8A17-F33F-2403-193FBA0A7224}"/>
              </a:ext>
            </a:extLst>
          </p:cNvPr>
          <p:cNvSpPr txBox="1"/>
          <p:nvPr/>
        </p:nvSpPr>
        <p:spPr>
          <a:xfrm>
            <a:off x="7654298" y="149964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기여방안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A9A103-CAA8-BF31-608E-BC5E84677EE1}"/>
              </a:ext>
            </a:extLst>
          </p:cNvPr>
          <p:cNvSpPr txBox="1"/>
          <p:nvPr/>
        </p:nvSpPr>
        <p:spPr>
          <a:xfrm>
            <a:off x="4242916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논문 요약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F69A060-EA30-0CC7-F9BB-D3CB5978529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18636"/>
            <a:ext cx="517413" cy="338554"/>
          </a:xfrm>
          <a:prstGeom prst="rect">
            <a:avLst/>
          </a:prstGeom>
        </p:spPr>
      </p:pic>
      <p:sp>
        <p:nvSpPr>
          <p:cNvPr id="2082" name="직사각형 9">
            <a:extLst>
              <a:ext uri="{FF2B5EF4-FFF2-40B4-BE49-F238E27FC236}">
                <a16:creationId xmlns:a16="http://schemas.microsoft.com/office/drawing/2014/main" id="{2D00008F-6000-023C-04A5-75BC6D36BF91}"/>
              </a:ext>
            </a:extLst>
          </p:cNvPr>
          <p:cNvSpPr/>
          <p:nvPr/>
        </p:nvSpPr>
        <p:spPr>
          <a:xfrm>
            <a:off x="-2" y="9186"/>
            <a:ext cx="12192002" cy="578949"/>
          </a:xfrm>
          <a:prstGeom prst="rect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E10045"/>
              </a:solidFill>
            </a:endParaRPr>
          </a:p>
        </p:txBody>
      </p:sp>
      <p:sp>
        <p:nvSpPr>
          <p:cNvPr id="2084" name="TextBox 2083">
            <a:extLst>
              <a:ext uri="{FF2B5EF4-FFF2-40B4-BE49-F238E27FC236}">
                <a16:creationId xmlns:a16="http://schemas.microsoft.com/office/drawing/2014/main" id="{DE2ED309-4132-AF04-EAD4-850C1414B487}"/>
              </a:ext>
            </a:extLst>
          </p:cNvPr>
          <p:cNvSpPr txBox="1"/>
          <p:nvPr/>
        </p:nvSpPr>
        <p:spPr>
          <a:xfrm>
            <a:off x="1962864" y="145323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2000"/>
                  </a:schemeClr>
                </a:solidFill>
              </a:rPr>
              <a:t>1 .</a:t>
            </a:r>
            <a:endParaRPr lang="ko-KR" altLang="en-US" sz="1600" b="1" spc="-150" dirty="0">
              <a:solidFill>
                <a:schemeClr val="bg1">
                  <a:alpha val="42000"/>
                </a:schemeClr>
              </a:solidFill>
            </a:endParaRPr>
          </a:p>
        </p:txBody>
      </p:sp>
      <p:sp>
        <p:nvSpPr>
          <p:cNvPr id="2090" name="TextBox 2089">
            <a:extLst>
              <a:ext uri="{FF2B5EF4-FFF2-40B4-BE49-F238E27FC236}">
                <a16:creationId xmlns:a16="http://schemas.microsoft.com/office/drawing/2014/main" id="{E61BAFC8-FC5F-7783-48EC-A498DCBFC706}"/>
              </a:ext>
            </a:extLst>
          </p:cNvPr>
          <p:cNvSpPr txBox="1"/>
          <p:nvPr/>
        </p:nvSpPr>
        <p:spPr>
          <a:xfrm>
            <a:off x="2247022" y="164880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자기 소개</a:t>
            </a:r>
          </a:p>
        </p:txBody>
      </p:sp>
      <p:pic>
        <p:nvPicPr>
          <p:cNvPr id="2092" name="그림 33">
            <a:extLst>
              <a:ext uri="{FF2B5EF4-FFF2-40B4-BE49-F238E27FC236}">
                <a16:creationId xmlns:a16="http://schemas.microsoft.com/office/drawing/2014/main" id="{FCC9F4FD-ADD9-B862-D6DF-F51A66BDF2B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29384"/>
            <a:ext cx="517413" cy="338554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D661495-6BDB-A327-7CD3-3C0DCEBF70F8}"/>
              </a:ext>
            </a:extLst>
          </p:cNvPr>
          <p:cNvSpPr txBox="1">
            <a:spLocks/>
          </p:cNvSpPr>
          <p:nvPr/>
        </p:nvSpPr>
        <p:spPr>
          <a:xfrm>
            <a:off x="835320" y="1149440"/>
            <a:ext cx="8750503" cy="578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3300" b="1" dirty="0">
                <a:solidFill>
                  <a:srgbClr val="E10045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회사 및 직무 소개</a:t>
            </a:r>
            <a:endParaRPr kumimoji="1" lang="en-US" altLang="ko-KR" sz="3300" b="1" dirty="0">
              <a:solidFill>
                <a:srgbClr val="E10045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C06D46-CAC1-1352-E4AC-EF8DE508D573}"/>
              </a:ext>
            </a:extLst>
          </p:cNvPr>
          <p:cNvSpPr txBox="1"/>
          <p:nvPr/>
        </p:nvSpPr>
        <p:spPr>
          <a:xfrm>
            <a:off x="5878276" y="145864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F1A6C6-29B2-0298-8570-C75DABC4E94A}"/>
              </a:ext>
            </a:extLst>
          </p:cNvPr>
          <p:cNvSpPr txBox="1"/>
          <p:nvPr/>
        </p:nvSpPr>
        <p:spPr>
          <a:xfrm>
            <a:off x="6193981" y="161253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1C9B22-9A83-6B43-D9EA-69A8126DD10E}"/>
              </a:ext>
            </a:extLst>
          </p:cNvPr>
          <p:cNvSpPr txBox="1"/>
          <p:nvPr/>
        </p:nvSpPr>
        <p:spPr>
          <a:xfrm>
            <a:off x="7785368" y="13253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8EF019-6EF7-DDB2-470A-39C2945D5907}"/>
              </a:ext>
            </a:extLst>
          </p:cNvPr>
          <p:cNvSpPr txBox="1"/>
          <p:nvPr/>
        </p:nvSpPr>
        <p:spPr>
          <a:xfrm>
            <a:off x="8067206" y="15921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 방안</a:t>
            </a:r>
          </a:p>
        </p:txBody>
      </p:sp>
      <p:sp>
        <p:nvSpPr>
          <p:cNvPr id="23" name="사각형: 둥근 모서리 3">
            <a:extLst>
              <a:ext uri="{FF2B5EF4-FFF2-40B4-BE49-F238E27FC236}">
                <a16:creationId xmlns:a16="http://schemas.microsoft.com/office/drawing/2014/main" id="{B206259E-9442-A6A9-CD10-BFA77C740793}"/>
              </a:ext>
            </a:extLst>
          </p:cNvPr>
          <p:cNvSpPr/>
          <p:nvPr/>
        </p:nvSpPr>
        <p:spPr>
          <a:xfrm>
            <a:off x="3832866" y="145323"/>
            <a:ext cx="1336685" cy="313376"/>
          </a:xfrm>
          <a:prstGeom prst="roundRect">
            <a:avLst>
              <a:gd name="adj" fmla="val 360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BD8CF0-741A-230A-BF4B-092E3F6F7FCA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rgbClr val="E10045"/>
                </a:solidFill>
              </a:rPr>
              <a:t>2 .</a:t>
            </a:r>
            <a:endParaRPr lang="ko-KR" altLang="en-US" sz="1600" b="1" spc="-150" dirty="0">
              <a:solidFill>
                <a:srgbClr val="E1004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49D9B3-EE20-411B-78B0-2A09580CD8D0}"/>
              </a:ext>
            </a:extLst>
          </p:cNvPr>
          <p:cNvSpPr txBox="1"/>
          <p:nvPr/>
        </p:nvSpPr>
        <p:spPr>
          <a:xfrm>
            <a:off x="4209049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rgbClr val="E10045"/>
                </a:solidFill>
                <a:latin typeface="+mn-ea"/>
              </a:rPr>
              <a:t>회사 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DFBD5-2BAD-3AA7-9559-548AE837A471}"/>
              </a:ext>
            </a:extLst>
          </p:cNvPr>
          <p:cNvSpPr txBox="1"/>
          <p:nvPr/>
        </p:nvSpPr>
        <p:spPr>
          <a:xfrm>
            <a:off x="332862" y="627454"/>
            <a:ext cx="463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spc="-150" dirty="0">
                <a:solidFill>
                  <a:srgbClr val="E10045"/>
                </a:solidFill>
                <a:latin typeface="+mj-ea"/>
                <a:ea typeface="+mj-ea"/>
              </a:rPr>
              <a:t>2</a:t>
            </a:r>
            <a:endParaRPr lang="ko-KR" altLang="en-US" sz="9600" b="1" spc="-150" dirty="0">
              <a:solidFill>
                <a:srgbClr val="E10045"/>
              </a:solidFill>
              <a:latin typeface="+mj-ea"/>
              <a:ea typeface="+mj-ea"/>
            </a:endParaRPr>
          </a:p>
        </p:txBody>
      </p:sp>
      <p:pic>
        <p:nvPicPr>
          <p:cNvPr id="9218" name="Picture 2" descr="LG HVAC Central Controller features a touch interface displaying comprehensive HVAC performance metrics for optimized building management.">
            <a:extLst>
              <a:ext uri="{FF2B5EF4-FFF2-40B4-BE49-F238E27FC236}">
                <a16:creationId xmlns:a16="http://schemas.microsoft.com/office/drawing/2014/main" id="{3F85256B-7849-4E5A-BA68-9E5D78349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08" y="2506777"/>
            <a:ext cx="11678383" cy="328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611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5A68F60-0251-747F-EC9D-A83DDC07E759}"/>
              </a:ext>
            </a:extLst>
          </p:cNvPr>
          <p:cNvSpPr/>
          <p:nvPr/>
        </p:nvSpPr>
        <p:spPr>
          <a:xfrm>
            <a:off x="3568525" y="4174477"/>
            <a:ext cx="2002025" cy="144694"/>
          </a:xfrm>
          <a:prstGeom prst="rect">
            <a:avLst/>
          </a:prstGeom>
          <a:solidFill>
            <a:srgbClr val="E10045">
              <a:alpha val="2605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26F0ED6-9306-8A1D-BDFF-0B04F45F0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45449" y="2244525"/>
            <a:ext cx="3044596" cy="173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0E7211A-88B0-E9D2-2F6B-1C8D7CC59D7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4189" y="2158804"/>
            <a:ext cx="2848426" cy="203326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37C299C-B55C-379C-7CFE-51143D358DC6}"/>
              </a:ext>
            </a:extLst>
          </p:cNvPr>
          <p:cNvSpPr/>
          <p:nvPr/>
        </p:nvSpPr>
        <p:spPr>
          <a:xfrm>
            <a:off x="-2" y="0"/>
            <a:ext cx="12192002" cy="578949"/>
          </a:xfrm>
          <a:prstGeom prst="rect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3">
            <a:extLst>
              <a:ext uri="{FF2B5EF4-FFF2-40B4-BE49-F238E27FC236}">
                <a16:creationId xmlns:a16="http://schemas.microsoft.com/office/drawing/2014/main" id="{CDE8B3C5-8339-8518-35AA-90A438CEC53C}"/>
              </a:ext>
            </a:extLst>
          </p:cNvPr>
          <p:cNvSpPr/>
          <p:nvPr/>
        </p:nvSpPr>
        <p:spPr>
          <a:xfrm>
            <a:off x="1914515" y="142912"/>
            <a:ext cx="1336685" cy="313376"/>
          </a:xfrm>
          <a:prstGeom prst="roundRect">
            <a:avLst>
              <a:gd name="adj" fmla="val 360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1ABC752-9FCE-2ED6-A1CB-5E5DE5A0D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451" y="1019100"/>
            <a:ext cx="3632200" cy="5281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ko-KR" altLang="en-US" sz="3600" b="1" dirty="0">
                <a:solidFill>
                  <a:srgbClr val="E10045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실행력</a:t>
            </a:r>
            <a:endParaRPr kumimoji="1" lang="en-US" altLang="ko-KR" sz="3600" b="1" dirty="0">
              <a:solidFill>
                <a:srgbClr val="E10045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215744-6FB1-4752-9C54-80755F9AF404}"/>
              </a:ext>
            </a:extLst>
          </p:cNvPr>
          <p:cNvSpPr txBox="1"/>
          <p:nvPr/>
        </p:nvSpPr>
        <p:spPr>
          <a:xfrm>
            <a:off x="1962864" y="134575"/>
            <a:ext cx="304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rgbClr val="E10045"/>
                </a:solidFill>
              </a:rPr>
              <a:t>1.</a:t>
            </a:r>
            <a:endParaRPr lang="ko-KR" altLang="en-US" sz="1600" b="1" spc="-150" dirty="0">
              <a:solidFill>
                <a:srgbClr val="E1004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0B575E-61EC-628C-CDA2-2EA627F12B7C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BA55E-A11D-B013-8585-E927522C955F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F39C8B-A88F-8CD5-2486-88083BBF587E}"/>
              </a:ext>
            </a:extLst>
          </p:cNvPr>
          <p:cNvSpPr txBox="1"/>
          <p:nvPr/>
        </p:nvSpPr>
        <p:spPr>
          <a:xfrm>
            <a:off x="6205270" y="14996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79AA6E-C17E-9FA2-58E6-430C3A1B4BC1}"/>
              </a:ext>
            </a:extLst>
          </p:cNvPr>
          <p:cNvSpPr txBox="1"/>
          <p:nvPr/>
        </p:nvSpPr>
        <p:spPr>
          <a:xfrm>
            <a:off x="332862" y="627454"/>
            <a:ext cx="463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spc="-150" dirty="0">
                <a:solidFill>
                  <a:srgbClr val="E10045"/>
                </a:solidFill>
                <a:latin typeface="+mj-ea"/>
                <a:ea typeface="+mj-ea"/>
              </a:rPr>
              <a:t>1</a:t>
            </a:r>
            <a:endParaRPr lang="ko-KR" altLang="en-US" sz="9600" b="1" spc="-150" dirty="0">
              <a:solidFill>
                <a:srgbClr val="E10045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6DAA67-D08B-6633-F944-79D8DC272E11}"/>
              </a:ext>
            </a:extLst>
          </p:cNvPr>
          <p:cNvSpPr txBox="1"/>
          <p:nvPr/>
        </p:nvSpPr>
        <p:spPr>
          <a:xfrm>
            <a:off x="2247022" y="154132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rgbClr val="E10045"/>
                </a:solidFill>
                <a:latin typeface="+mn-ea"/>
              </a:rPr>
              <a:t>직무역량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788F0D-1A5F-8DEB-BF70-4D2303549F54}"/>
              </a:ext>
            </a:extLst>
          </p:cNvPr>
          <p:cNvSpPr txBox="1"/>
          <p:nvPr/>
        </p:nvSpPr>
        <p:spPr>
          <a:xfrm>
            <a:off x="4242916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논문 요약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C9726487-8A3D-DAAB-CE5A-E1FE29428FC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18636"/>
            <a:ext cx="517413" cy="33855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D518DF3-7912-2368-2DBE-31169218B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329" y="2219283"/>
            <a:ext cx="2615483" cy="174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9B4D3B9-D160-1801-D80A-CECC576DC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71590" y="2219283"/>
            <a:ext cx="2664765" cy="177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16B708-0392-9272-374D-0D5DB412FC5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329" y="4686037"/>
            <a:ext cx="2604637" cy="1627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12E3CF-2A82-D725-6EA8-070EDD1CA396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6169" y="4674706"/>
            <a:ext cx="3044596" cy="16723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B9612A-298A-FBE9-1359-6933E7CCB2EE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46928" y="4686037"/>
            <a:ext cx="2589427" cy="1691499"/>
          </a:xfrm>
          <a:prstGeom prst="rect">
            <a:avLst/>
          </a:prstGeom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AD540763-F317-840D-7FD7-9253691E92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202"/>
          <a:stretch/>
        </p:blipFill>
        <p:spPr bwMode="auto">
          <a:xfrm>
            <a:off x="9042010" y="4653142"/>
            <a:ext cx="2930383" cy="174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B455AC5-B869-D0E7-72CA-0A6FA1485F72}"/>
              </a:ext>
            </a:extLst>
          </p:cNvPr>
          <p:cNvSpPr txBox="1"/>
          <p:nvPr/>
        </p:nvSpPr>
        <p:spPr>
          <a:xfrm>
            <a:off x="781801" y="1590653"/>
            <a:ext cx="3948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저는 제 선택을 믿고</a:t>
            </a:r>
            <a:r>
              <a:rPr lang="en-US" altLang="ko-KR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, </a:t>
            </a:r>
            <a:r>
              <a:rPr lang="ko-KR" altLang="en-US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하고 싶은 일에 주저 없이 도전하는 사람입니다</a:t>
            </a:r>
            <a:r>
              <a:rPr lang="en-US" altLang="ko-KR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.</a:t>
            </a:r>
            <a:endParaRPr lang="ko-KR" altLang="en-US" sz="1000" b="1" spc="-15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2EA415-2B40-4C43-0E59-C5852C03B64C}"/>
              </a:ext>
            </a:extLst>
          </p:cNvPr>
          <p:cNvSpPr txBox="1"/>
          <p:nvPr/>
        </p:nvSpPr>
        <p:spPr>
          <a:xfrm>
            <a:off x="7875680" y="13253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57639-FBA2-A989-0BA1-AC884209BC6F}"/>
              </a:ext>
            </a:extLst>
          </p:cNvPr>
          <p:cNvSpPr txBox="1"/>
          <p:nvPr/>
        </p:nvSpPr>
        <p:spPr>
          <a:xfrm>
            <a:off x="8157518" y="15921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 방안</a:t>
            </a:r>
          </a:p>
        </p:txBody>
      </p:sp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7388E49-B740-8E04-00BD-8C5242E5FB71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6041" y="6438455"/>
            <a:ext cx="2311400" cy="317500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B2B68C2-30EB-6880-5CDF-985952B1E0C9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9844" y="6421892"/>
            <a:ext cx="2108200" cy="330200"/>
          </a:xfrm>
          <a:prstGeom prst="rect">
            <a:avLst/>
          </a:prstGeom>
        </p:spPr>
      </p:pic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EED6B92-F9AA-DC51-5FDA-F58CFC9D0972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3647" y="6403693"/>
            <a:ext cx="2108200" cy="317500"/>
          </a:xfrm>
          <a:prstGeom prst="rect">
            <a:avLst/>
          </a:prstGeom>
        </p:spPr>
      </p:pic>
      <p:pic>
        <p:nvPicPr>
          <p:cNvPr id="44" name="Picture 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B5EAE1A-6932-5735-D8F9-87A727386C0A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399" y="6373668"/>
            <a:ext cx="2108200" cy="330200"/>
          </a:xfrm>
          <a:prstGeom prst="rect">
            <a:avLst/>
          </a:prstGeom>
        </p:spPr>
      </p:pic>
      <p:pic>
        <p:nvPicPr>
          <p:cNvPr id="46" name="Picture 4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8CFD75A-021C-C9E6-9539-D3C07889FB28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7003" y="4135203"/>
            <a:ext cx="1714500" cy="317500"/>
          </a:xfrm>
          <a:prstGeom prst="rect">
            <a:avLst/>
          </a:prstGeom>
        </p:spPr>
      </p:pic>
      <p:pic>
        <p:nvPicPr>
          <p:cNvPr id="48" name="Picture 4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5271C7-2F68-4E0E-021B-D44C9A67743B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7557" y="4112132"/>
            <a:ext cx="2311400" cy="317500"/>
          </a:xfrm>
          <a:prstGeom prst="rect">
            <a:avLst/>
          </a:prstGeom>
        </p:spPr>
      </p:pic>
      <p:pic>
        <p:nvPicPr>
          <p:cNvPr id="50" name="Picture 4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200BA96-0E06-3EB6-BD64-FE72AFA7708E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8525" y="4081724"/>
            <a:ext cx="2311400" cy="330200"/>
          </a:xfrm>
          <a:prstGeom prst="rect">
            <a:avLst/>
          </a:prstGeom>
        </p:spPr>
      </p:pic>
      <p:pic>
        <p:nvPicPr>
          <p:cNvPr id="52" name="Picture 5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9015711-2BA3-E0CA-76BC-254F179C549C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639" y="4051316"/>
            <a:ext cx="2324100" cy="330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6216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1ABC752-9FCE-2ED6-A1CB-5E5DE5A0D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239" y="1019100"/>
            <a:ext cx="3632200" cy="5281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ko-KR" altLang="en-US" sz="3600" b="1" dirty="0">
                <a:solidFill>
                  <a:srgbClr val="E10045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문제 해결 능력</a:t>
            </a:r>
            <a:endParaRPr kumimoji="1" lang="en-US" altLang="ko-KR" sz="3600" b="1" dirty="0">
              <a:solidFill>
                <a:srgbClr val="E10045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0B575E-61EC-628C-CDA2-2EA627F12B7C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BA55E-A11D-B013-8585-E927522C955F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F39C8B-A88F-8CD5-2486-88083BBF587E}"/>
              </a:ext>
            </a:extLst>
          </p:cNvPr>
          <p:cNvSpPr txBox="1"/>
          <p:nvPr/>
        </p:nvSpPr>
        <p:spPr>
          <a:xfrm>
            <a:off x="6205270" y="14996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7C55DD-0F85-5CCE-5BFE-8E9D8F8C5652}"/>
              </a:ext>
            </a:extLst>
          </p:cNvPr>
          <p:cNvSpPr txBox="1"/>
          <p:nvPr/>
        </p:nvSpPr>
        <p:spPr>
          <a:xfrm>
            <a:off x="7338593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54434B-6684-1922-35ED-6E2335102C06}"/>
              </a:ext>
            </a:extLst>
          </p:cNvPr>
          <p:cNvSpPr txBox="1"/>
          <p:nvPr/>
        </p:nvSpPr>
        <p:spPr>
          <a:xfrm>
            <a:off x="7654298" y="149964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기여방안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79AA6E-C17E-9FA2-58E6-430C3A1B4BC1}"/>
              </a:ext>
            </a:extLst>
          </p:cNvPr>
          <p:cNvSpPr txBox="1"/>
          <p:nvPr/>
        </p:nvSpPr>
        <p:spPr>
          <a:xfrm>
            <a:off x="332862" y="627454"/>
            <a:ext cx="463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spc="-150" dirty="0">
                <a:solidFill>
                  <a:srgbClr val="E10045"/>
                </a:solidFill>
                <a:latin typeface="+mj-ea"/>
                <a:ea typeface="+mj-ea"/>
              </a:rPr>
              <a:t>2</a:t>
            </a:r>
            <a:endParaRPr lang="ko-KR" altLang="en-US" sz="9600" b="1" spc="-150" dirty="0">
              <a:solidFill>
                <a:srgbClr val="E10045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788F0D-1A5F-8DEB-BF70-4D2303549F54}"/>
              </a:ext>
            </a:extLst>
          </p:cNvPr>
          <p:cNvSpPr txBox="1"/>
          <p:nvPr/>
        </p:nvSpPr>
        <p:spPr>
          <a:xfrm>
            <a:off x="4242916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논문 요약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C9726487-8A3D-DAAB-CE5A-E1FE29428FC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18636"/>
            <a:ext cx="517413" cy="338554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E35FB95D-EC3F-6F37-E729-4D484C288051}"/>
              </a:ext>
            </a:extLst>
          </p:cNvPr>
          <p:cNvGrpSpPr/>
          <p:nvPr/>
        </p:nvGrpSpPr>
        <p:grpSpPr>
          <a:xfrm>
            <a:off x="8814407" y="2167961"/>
            <a:ext cx="4208520" cy="5998649"/>
            <a:chOff x="8113112" y="1995708"/>
            <a:chExt cx="4525264" cy="6368062"/>
          </a:xfrm>
        </p:grpSpPr>
        <p:pic>
          <p:nvPicPr>
            <p:cNvPr id="43" name="Object 7">
              <a:extLst>
                <a:ext uri="{FF2B5EF4-FFF2-40B4-BE49-F238E27FC236}">
                  <a16:creationId xmlns:a16="http://schemas.microsoft.com/office/drawing/2014/main" id="{D8AEFB24-3E9D-690E-B8CB-5C9B10AFA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905722">
              <a:off x="10601973" y="1995708"/>
              <a:ext cx="1291981" cy="2180602"/>
            </a:xfrm>
            <a:prstGeom prst="rect">
              <a:avLst/>
            </a:prstGeom>
          </p:spPr>
        </p:pic>
        <p:pic>
          <p:nvPicPr>
            <p:cNvPr id="6" name="Object 3">
              <a:extLst>
                <a:ext uri="{FF2B5EF4-FFF2-40B4-BE49-F238E27FC236}">
                  <a16:creationId xmlns:a16="http://schemas.microsoft.com/office/drawing/2014/main" id="{4062FB3F-FA91-DBCE-D160-203743582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860000">
              <a:off x="11366843" y="3682356"/>
              <a:ext cx="1271533" cy="2146090"/>
            </a:xfrm>
            <a:prstGeom prst="rect">
              <a:avLst/>
            </a:prstGeom>
          </p:spPr>
        </p:pic>
        <p:grpSp>
          <p:nvGrpSpPr>
            <p:cNvPr id="22" name="그룹 1007">
              <a:extLst>
                <a:ext uri="{FF2B5EF4-FFF2-40B4-BE49-F238E27FC236}">
                  <a16:creationId xmlns:a16="http://schemas.microsoft.com/office/drawing/2014/main" id="{87083E58-C7C4-05DE-34B8-6CA6500888A7}"/>
                </a:ext>
              </a:extLst>
            </p:cNvPr>
            <p:cNvGrpSpPr/>
            <p:nvPr/>
          </p:nvGrpSpPr>
          <p:grpSpPr>
            <a:xfrm rot="1847315">
              <a:off x="9352387" y="4032291"/>
              <a:ext cx="1369062" cy="2294889"/>
              <a:chOff x="11318255" y="2284847"/>
              <a:chExt cx="3177480" cy="6255095"/>
            </a:xfrm>
          </p:grpSpPr>
          <p:pic>
            <p:nvPicPr>
              <p:cNvPr id="24" name="Object 26">
                <a:extLst>
                  <a:ext uri="{FF2B5EF4-FFF2-40B4-BE49-F238E27FC236}">
                    <a16:creationId xmlns:a16="http://schemas.microsoft.com/office/drawing/2014/main" id="{7F06F632-9988-FA1A-F9BD-546EC7B2F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936914" y="-635302"/>
                <a:ext cx="6354960" cy="12510190"/>
              </a:xfrm>
              <a:prstGeom prst="rect">
                <a:avLst/>
              </a:prstGeom>
            </p:spPr>
          </p:pic>
          <p:pic>
            <p:nvPicPr>
              <p:cNvPr id="25" name="Object 27">
                <a:extLst>
                  <a:ext uri="{FF2B5EF4-FFF2-40B4-BE49-F238E27FC236}">
                    <a16:creationId xmlns:a16="http://schemas.microsoft.com/office/drawing/2014/main" id="{11C8DC53-E373-AACA-874B-523A58DD5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318255" y="2284847"/>
                <a:ext cx="3177480" cy="6255095"/>
              </a:xfrm>
              <a:prstGeom prst="rect">
                <a:avLst/>
              </a:prstGeom>
            </p:spPr>
          </p:pic>
        </p:grpSp>
        <p:pic>
          <p:nvPicPr>
            <p:cNvPr id="46" name="Object 11">
              <a:extLst>
                <a:ext uri="{FF2B5EF4-FFF2-40B4-BE49-F238E27FC236}">
                  <a16:creationId xmlns:a16="http://schemas.microsoft.com/office/drawing/2014/main" id="{14726800-A7DA-69E7-E919-262EA766C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800000">
              <a:off x="10136343" y="5740177"/>
              <a:ext cx="1261097" cy="2128477"/>
            </a:xfrm>
            <a:prstGeom prst="rect">
              <a:avLst/>
            </a:prstGeom>
          </p:spPr>
        </p:pic>
        <p:pic>
          <p:nvPicPr>
            <p:cNvPr id="49" name="Object 15">
              <a:extLst>
                <a:ext uri="{FF2B5EF4-FFF2-40B4-BE49-F238E27FC236}">
                  <a16:creationId xmlns:a16="http://schemas.microsoft.com/office/drawing/2014/main" id="{2AD97EC6-3C03-ABFB-057C-E7B24448F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800000">
              <a:off x="8113112" y="6115165"/>
              <a:ext cx="1332272" cy="2248605"/>
            </a:xfrm>
            <a:prstGeom prst="rect">
              <a:avLst/>
            </a:prstGeom>
          </p:spPr>
        </p:pic>
      </p:grpSp>
      <p:grpSp>
        <p:nvGrpSpPr>
          <p:cNvPr id="53" name="그룹 1004">
            <a:extLst>
              <a:ext uri="{FF2B5EF4-FFF2-40B4-BE49-F238E27FC236}">
                <a16:creationId xmlns:a16="http://schemas.microsoft.com/office/drawing/2014/main" id="{8F5104E5-F425-3C6F-1BF1-A60BCB4F6590}"/>
              </a:ext>
            </a:extLst>
          </p:cNvPr>
          <p:cNvGrpSpPr/>
          <p:nvPr/>
        </p:nvGrpSpPr>
        <p:grpSpPr>
          <a:xfrm>
            <a:off x="1034698" y="6223637"/>
            <a:ext cx="1274274" cy="2277534"/>
            <a:chOff x="10305609" y="8566270"/>
            <a:chExt cx="2563923" cy="5047264"/>
          </a:xfrm>
        </p:grpSpPr>
        <p:pic>
          <p:nvPicPr>
            <p:cNvPr id="54" name="Object 12">
              <a:extLst>
                <a:ext uri="{FF2B5EF4-FFF2-40B4-BE49-F238E27FC236}">
                  <a16:creationId xmlns:a16="http://schemas.microsoft.com/office/drawing/2014/main" id="{CE2AE0B7-CF40-A888-FFFD-235BE04F8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920000">
              <a:off x="10305609" y="8566270"/>
              <a:ext cx="2563923" cy="5047264"/>
            </a:xfrm>
            <a:prstGeom prst="rect">
              <a:avLst/>
            </a:prstGeom>
          </p:spPr>
        </p:pic>
      </p:grpSp>
      <p:grpSp>
        <p:nvGrpSpPr>
          <p:cNvPr id="55" name="그룹 1005">
            <a:extLst>
              <a:ext uri="{FF2B5EF4-FFF2-40B4-BE49-F238E27FC236}">
                <a16:creationId xmlns:a16="http://schemas.microsoft.com/office/drawing/2014/main" id="{89C11E61-B292-3449-F4B8-A9B6B8C25F3A}"/>
              </a:ext>
            </a:extLst>
          </p:cNvPr>
          <p:cNvGrpSpPr/>
          <p:nvPr/>
        </p:nvGrpSpPr>
        <p:grpSpPr>
          <a:xfrm>
            <a:off x="3471868" y="2172345"/>
            <a:ext cx="1221577" cy="2237106"/>
            <a:chOff x="15829709" y="-604109"/>
            <a:chExt cx="2661239" cy="5238838"/>
          </a:xfrm>
        </p:grpSpPr>
        <p:pic>
          <p:nvPicPr>
            <p:cNvPr id="56" name="Object 15">
              <a:extLst>
                <a:ext uri="{FF2B5EF4-FFF2-40B4-BE49-F238E27FC236}">
                  <a16:creationId xmlns:a16="http://schemas.microsoft.com/office/drawing/2014/main" id="{1D0C6356-B479-0BC9-0908-E910A4F5D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860000">
              <a:off x="15829709" y="-604109"/>
              <a:ext cx="2661239" cy="5238838"/>
            </a:xfrm>
            <a:prstGeom prst="rect">
              <a:avLst/>
            </a:prstGeom>
          </p:spPr>
        </p:pic>
      </p:grpSp>
      <p:grpSp>
        <p:nvGrpSpPr>
          <p:cNvPr id="57" name="그룹 1007">
            <a:extLst>
              <a:ext uri="{FF2B5EF4-FFF2-40B4-BE49-F238E27FC236}">
                <a16:creationId xmlns:a16="http://schemas.microsoft.com/office/drawing/2014/main" id="{A9B6F317-CD0D-4571-1664-0DB66F893404}"/>
              </a:ext>
            </a:extLst>
          </p:cNvPr>
          <p:cNvGrpSpPr/>
          <p:nvPr/>
        </p:nvGrpSpPr>
        <p:grpSpPr>
          <a:xfrm>
            <a:off x="6961708" y="6237096"/>
            <a:ext cx="1342177" cy="2203383"/>
            <a:chOff x="13988628" y="8071732"/>
            <a:chExt cx="2660339" cy="5237067"/>
          </a:xfrm>
        </p:grpSpPr>
        <p:pic>
          <p:nvPicPr>
            <p:cNvPr id="58" name="Object 21">
              <a:extLst>
                <a:ext uri="{FF2B5EF4-FFF2-40B4-BE49-F238E27FC236}">
                  <a16:creationId xmlns:a16="http://schemas.microsoft.com/office/drawing/2014/main" id="{B76C45F4-2ECF-09B4-39C0-AB2607C4B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800000">
              <a:off x="13988628" y="8071732"/>
              <a:ext cx="2660339" cy="5237067"/>
            </a:xfrm>
            <a:prstGeom prst="rect">
              <a:avLst/>
            </a:prstGeom>
          </p:spPr>
        </p:pic>
      </p:grpSp>
      <p:grpSp>
        <p:nvGrpSpPr>
          <p:cNvPr id="59" name="그룹 1008">
            <a:extLst>
              <a:ext uri="{FF2B5EF4-FFF2-40B4-BE49-F238E27FC236}">
                <a16:creationId xmlns:a16="http://schemas.microsoft.com/office/drawing/2014/main" id="{87D856D5-2B2E-E8C7-02E4-A7C69AFDC504}"/>
              </a:ext>
            </a:extLst>
          </p:cNvPr>
          <p:cNvGrpSpPr/>
          <p:nvPr/>
        </p:nvGrpSpPr>
        <p:grpSpPr>
          <a:xfrm>
            <a:off x="8192057" y="4165971"/>
            <a:ext cx="1289391" cy="2116727"/>
            <a:chOff x="13109781" y="4099430"/>
            <a:chExt cx="2555712" cy="5031101"/>
          </a:xfrm>
        </p:grpSpPr>
        <p:pic>
          <p:nvPicPr>
            <p:cNvPr id="60" name="Object 24">
              <a:extLst>
                <a:ext uri="{FF2B5EF4-FFF2-40B4-BE49-F238E27FC236}">
                  <a16:creationId xmlns:a16="http://schemas.microsoft.com/office/drawing/2014/main" id="{E8C773B0-A489-82EE-245E-BC14ACB17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860000">
              <a:off x="13109781" y="4099430"/>
              <a:ext cx="2555712" cy="5031101"/>
            </a:xfrm>
            <a:prstGeom prst="rect">
              <a:avLst/>
            </a:prstGeom>
          </p:spPr>
        </p:pic>
      </p:grpSp>
      <p:grpSp>
        <p:nvGrpSpPr>
          <p:cNvPr id="61" name="그룹 1009">
            <a:extLst>
              <a:ext uri="{FF2B5EF4-FFF2-40B4-BE49-F238E27FC236}">
                <a16:creationId xmlns:a16="http://schemas.microsoft.com/office/drawing/2014/main" id="{92A6A0D3-59B4-B1CF-F2D7-7D10F5FFC19E}"/>
              </a:ext>
            </a:extLst>
          </p:cNvPr>
          <p:cNvGrpSpPr/>
          <p:nvPr/>
        </p:nvGrpSpPr>
        <p:grpSpPr>
          <a:xfrm rot="152913">
            <a:off x="9371638" y="2240340"/>
            <a:ext cx="1293534" cy="2123527"/>
            <a:chOff x="16862160" y="3301119"/>
            <a:chExt cx="2563923" cy="5047264"/>
          </a:xfrm>
        </p:grpSpPr>
        <p:pic>
          <p:nvPicPr>
            <p:cNvPr id="62" name="Object 27">
              <a:extLst>
                <a:ext uri="{FF2B5EF4-FFF2-40B4-BE49-F238E27FC236}">
                  <a16:creationId xmlns:a16="http://schemas.microsoft.com/office/drawing/2014/main" id="{5B2EA10D-07C4-28D6-C721-1C4D722D2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800000">
              <a:off x="16862160" y="3301119"/>
              <a:ext cx="2563923" cy="5047264"/>
            </a:xfrm>
            <a:prstGeom prst="rect">
              <a:avLst/>
            </a:prstGeom>
          </p:spPr>
        </p:pic>
      </p:grpSp>
      <p:grpSp>
        <p:nvGrpSpPr>
          <p:cNvPr id="63" name="그룹 1010">
            <a:extLst>
              <a:ext uri="{FF2B5EF4-FFF2-40B4-BE49-F238E27FC236}">
                <a16:creationId xmlns:a16="http://schemas.microsoft.com/office/drawing/2014/main" id="{624CD2E1-5E6A-519E-6DB4-3FBE68BD62BC}"/>
              </a:ext>
            </a:extLst>
          </p:cNvPr>
          <p:cNvGrpSpPr/>
          <p:nvPr/>
        </p:nvGrpSpPr>
        <p:grpSpPr>
          <a:xfrm rot="1816076">
            <a:off x="1677673" y="3258279"/>
            <a:ext cx="2394790" cy="4138989"/>
            <a:chOff x="9346884" y="-523982"/>
            <a:chExt cx="6354960" cy="12510190"/>
          </a:xfrm>
        </p:grpSpPr>
        <p:pic>
          <p:nvPicPr>
            <p:cNvPr id="2048" name="Object 32">
              <a:extLst>
                <a:ext uri="{FF2B5EF4-FFF2-40B4-BE49-F238E27FC236}">
                  <a16:creationId xmlns:a16="http://schemas.microsoft.com/office/drawing/2014/main" id="{F61D35FE-C5AF-021E-CE33-081884666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46884" y="-523982"/>
              <a:ext cx="6354960" cy="12510190"/>
            </a:xfrm>
            <a:prstGeom prst="rect">
              <a:avLst/>
            </a:prstGeom>
          </p:spPr>
        </p:pic>
        <p:pic>
          <p:nvPicPr>
            <p:cNvPr id="2049" name="Object 33">
              <a:extLst>
                <a:ext uri="{FF2B5EF4-FFF2-40B4-BE49-F238E27FC236}">
                  <a16:creationId xmlns:a16="http://schemas.microsoft.com/office/drawing/2014/main" id="{3FE6EA8E-E5B7-E96B-186D-114E4849B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728227" y="2396166"/>
              <a:ext cx="3177480" cy="6255095"/>
            </a:xfrm>
            <a:prstGeom prst="rect">
              <a:avLst/>
            </a:prstGeom>
          </p:spPr>
        </p:pic>
      </p:grpSp>
      <p:grpSp>
        <p:nvGrpSpPr>
          <p:cNvPr id="2053" name="그룹 36">
            <a:extLst>
              <a:ext uri="{FF2B5EF4-FFF2-40B4-BE49-F238E27FC236}">
                <a16:creationId xmlns:a16="http://schemas.microsoft.com/office/drawing/2014/main" id="{0D810D96-B22C-3B6B-B49A-80EDD66B490E}"/>
              </a:ext>
            </a:extLst>
          </p:cNvPr>
          <p:cNvGrpSpPr>
            <a:grpSpLocks noChangeAspect="1"/>
          </p:cNvGrpSpPr>
          <p:nvPr/>
        </p:nvGrpSpPr>
        <p:grpSpPr>
          <a:xfrm rot="1856855">
            <a:off x="-30066" y="2117935"/>
            <a:ext cx="1401813" cy="2479423"/>
            <a:chOff x="3527682" y="887254"/>
            <a:chExt cx="3691222" cy="6528759"/>
          </a:xfrm>
        </p:grpSpPr>
        <p:pic>
          <p:nvPicPr>
            <p:cNvPr id="2055" name="그림 37">
              <a:extLst>
                <a:ext uri="{FF2B5EF4-FFF2-40B4-BE49-F238E27FC236}">
                  <a16:creationId xmlns:a16="http://schemas.microsoft.com/office/drawing/2014/main" id="{E37A7A9E-EC15-C82E-A7D9-BEFAFE4563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911770" y="1048246"/>
              <a:ext cx="2923045" cy="6001120"/>
            </a:xfrm>
            <a:prstGeom prst="rect">
              <a:avLst/>
            </a:prstGeom>
          </p:spPr>
        </p:pic>
        <p:pic>
          <p:nvPicPr>
            <p:cNvPr id="2057" name="그림 38">
              <a:extLst>
                <a:ext uri="{FF2B5EF4-FFF2-40B4-BE49-F238E27FC236}">
                  <a16:creationId xmlns:a16="http://schemas.microsoft.com/office/drawing/2014/main" id="{5B8E186A-C1C7-8D3E-9B33-9103B58EE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7682" y="887254"/>
              <a:ext cx="3691222" cy="6528759"/>
            </a:xfrm>
            <a:prstGeom prst="rect">
              <a:avLst/>
            </a:prstGeom>
          </p:spPr>
        </p:pic>
      </p:grpSp>
      <p:grpSp>
        <p:nvGrpSpPr>
          <p:cNvPr id="2059" name="그룹 17">
            <a:extLst>
              <a:ext uri="{FF2B5EF4-FFF2-40B4-BE49-F238E27FC236}">
                <a16:creationId xmlns:a16="http://schemas.microsoft.com/office/drawing/2014/main" id="{3A3766ED-FE30-0B46-28DF-D1AD8A1C8A26}"/>
              </a:ext>
            </a:extLst>
          </p:cNvPr>
          <p:cNvGrpSpPr>
            <a:grpSpLocks noChangeAspect="1"/>
          </p:cNvGrpSpPr>
          <p:nvPr/>
        </p:nvGrpSpPr>
        <p:grpSpPr>
          <a:xfrm rot="1743693">
            <a:off x="364719" y="4377099"/>
            <a:ext cx="1256495" cy="2222395"/>
            <a:chOff x="-945511" y="1548866"/>
            <a:chExt cx="2881086" cy="5095851"/>
          </a:xfrm>
        </p:grpSpPr>
        <p:pic>
          <p:nvPicPr>
            <p:cNvPr id="2060" name="그림 18">
              <a:extLst>
                <a:ext uri="{FF2B5EF4-FFF2-40B4-BE49-F238E27FC236}">
                  <a16:creationId xmlns:a16="http://schemas.microsoft.com/office/drawing/2014/main" id="{437A04F0-3B00-0D38-E9B8-9E5EA81DED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636967" y="1659855"/>
              <a:ext cx="2273445" cy="4836972"/>
            </a:xfrm>
            <a:prstGeom prst="roundRect">
              <a:avLst>
                <a:gd name="adj" fmla="val 12061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061" name="그림 19">
              <a:extLst>
                <a:ext uri="{FF2B5EF4-FFF2-40B4-BE49-F238E27FC236}">
                  <a16:creationId xmlns:a16="http://schemas.microsoft.com/office/drawing/2014/main" id="{3D7A884A-8B1D-5E4A-538E-9DE1B357E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945511" y="1548866"/>
              <a:ext cx="2881086" cy="5095851"/>
            </a:xfrm>
            <a:prstGeom prst="rect">
              <a:avLst/>
            </a:prstGeom>
          </p:spPr>
        </p:pic>
      </p:grpSp>
      <p:grpSp>
        <p:nvGrpSpPr>
          <p:cNvPr id="2062" name="그룹 26">
            <a:extLst>
              <a:ext uri="{FF2B5EF4-FFF2-40B4-BE49-F238E27FC236}">
                <a16:creationId xmlns:a16="http://schemas.microsoft.com/office/drawing/2014/main" id="{A8A02B3E-8871-31DF-2A30-006052996EBC}"/>
              </a:ext>
            </a:extLst>
          </p:cNvPr>
          <p:cNvGrpSpPr>
            <a:grpSpLocks noChangeAspect="1"/>
          </p:cNvGrpSpPr>
          <p:nvPr/>
        </p:nvGrpSpPr>
        <p:grpSpPr>
          <a:xfrm rot="1909257">
            <a:off x="1646620" y="2157338"/>
            <a:ext cx="1374363" cy="2430870"/>
            <a:chOff x="-1465505" y="1400976"/>
            <a:chExt cx="2881086" cy="5095851"/>
          </a:xfrm>
        </p:grpSpPr>
        <p:pic>
          <p:nvPicPr>
            <p:cNvPr id="2063" name="그림 27">
              <a:extLst>
                <a:ext uri="{FF2B5EF4-FFF2-40B4-BE49-F238E27FC236}">
                  <a16:creationId xmlns:a16="http://schemas.microsoft.com/office/drawing/2014/main" id="{C1C95588-EEB7-E1EF-EE48-B242923C56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208"/>
            <a:stretch/>
          </p:blipFill>
          <p:spPr>
            <a:xfrm>
              <a:off x="-1160520" y="1502573"/>
              <a:ext cx="2279966" cy="4832567"/>
            </a:xfrm>
            <a:prstGeom prst="roundRect">
              <a:avLst>
                <a:gd name="adj" fmla="val 13040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064" name="그림 28">
              <a:extLst>
                <a:ext uri="{FF2B5EF4-FFF2-40B4-BE49-F238E27FC236}">
                  <a16:creationId xmlns:a16="http://schemas.microsoft.com/office/drawing/2014/main" id="{B126EC63-4C3F-66A1-9238-CC05A8A05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65505" y="1400976"/>
              <a:ext cx="2881086" cy="5095851"/>
            </a:xfrm>
            <a:prstGeom prst="rect">
              <a:avLst/>
            </a:prstGeom>
          </p:spPr>
        </p:pic>
      </p:grpSp>
      <p:grpSp>
        <p:nvGrpSpPr>
          <p:cNvPr id="2065" name="그룹 10">
            <a:extLst>
              <a:ext uri="{FF2B5EF4-FFF2-40B4-BE49-F238E27FC236}">
                <a16:creationId xmlns:a16="http://schemas.microsoft.com/office/drawing/2014/main" id="{B21A8D59-7C5A-5A8E-E024-AE131B4CA2E9}"/>
              </a:ext>
            </a:extLst>
          </p:cNvPr>
          <p:cNvGrpSpPr/>
          <p:nvPr/>
        </p:nvGrpSpPr>
        <p:grpSpPr>
          <a:xfrm rot="1760177">
            <a:off x="-900172" y="6391900"/>
            <a:ext cx="1275432" cy="2458437"/>
            <a:chOff x="6622808" y="1144309"/>
            <a:chExt cx="2881086" cy="5095851"/>
          </a:xfrm>
        </p:grpSpPr>
        <p:pic>
          <p:nvPicPr>
            <p:cNvPr id="2066" name="그림 2">
              <a:extLst>
                <a:ext uri="{FF2B5EF4-FFF2-40B4-BE49-F238E27FC236}">
                  <a16:creationId xmlns:a16="http://schemas.microsoft.com/office/drawing/2014/main" id="{89C1FDDB-AE40-F6B7-3C09-6FBF45FCF7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4"/>
            <a:stretch/>
          </p:blipFill>
          <p:spPr>
            <a:xfrm>
              <a:off x="6913418" y="1253837"/>
              <a:ext cx="2313709" cy="4828308"/>
            </a:xfrm>
            <a:prstGeom prst="roundRect">
              <a:avLst>
                <a:gd name="adj" fmla="val 13425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067" name="그림 5">
              <a:extLst>
                <a:ext uri="{FF2B5EF4-FFF2-40B4-BE49-F238E27FC236}">
                  <a16:creationId xmlns:a16="http://schemas.microsoft.com/office/drawing/2014/main" id="{E0FBE5A9-F7A4-3C6E-CB50-8F66206DB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22808" y="1144309"/>
              <a:ext cx="2881086" cy="5095851"/>
            </a:xfrm>
            <a:prstGeom prst="rect">
              <a:avLst/>
            </a:prstGeom>
          </p:spPr>
        </p:pic>
      </p:grpSp>
      <p:grpSp>
        <p:nvGrpSpPr>
          <p:cNvPr id="2068" name="그룹 9">
            <a:extLst>
              <a:ext uri="{FF2B5EF4-FFF2-40B4-BE49-F238E27FC236}">
                <a16:creationId xmlns:a16="http://schemas.microsoft.com/office/drawing/2014/main" id="{4DEDBDE1-2A5A-0197-B167-D98ADBA2521A}"/>
              </a:ext>
            </a:extLst>
          </p:cNvPr>
          <p:cNvGrpSpPr/>
          <p:nvPr/>
        </p:nvGrpSpPr>
        <p:grpSpPr>
          <a:xfrm rot="1743693">
            <a:off x="4604565" y="11160119"/>
            <a:ext cx="1401813" cy="2198869"/>
            <a:chOff x="793249" y="1320640"/>
            <a:chExt cx="2881086" cy="5095851"/>
          </a:xfrm>
        </p:grpSpPr>
        <p:pic>
          <p:nvPicPr>
            <p:cNvPr id="2069" name="그림 7">
              <a:extLst>
                <a:ext uri="{FF2B5EF4-FFF2-40B4-BE49-F238E27FC236}">
                  <a16:creationId xmlns:a16="http://schemas.microsoft.com/office/drawing/2014/main" id="{012B5800-A0B8-573E-8EE3-7DABA4F2A2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582"/>
            <a:stretch/>
          </p:blipFill>
          <p:spPr>
            <a:xfrm>
              <a:off x="1086561" y="1430164"/>
              <a:ext cx="2294461" cy="4835237"/>
            </a:xfrm>
            <a:prstGeom prst="roundRect">
              <a:avLst>
                <a:gd name="adj" fmla="val 13425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070" name="그림 8">
              <a:extLst>
                <a:ext uri="{FF2B5EF4-FFF2-40B4-BE49-F238E27FC236}">
                  <a16:creationId xmlns:a16="http://schemas.microsoft.com/office/drawing/2014/main" id="{BB4AF561-F287-4351-3700-0029BD1B9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3249" y="1320640"/>
              <a:ext cx="2881086" cy="5095851"/>
            </a:xfrm>
            <a:prstGeom prst="rect">
              <a:avLst/>
            </a:prstGeom>
          </p:spPr>
        </p:pic>
      </p:grpSp>
      <p:grpSp>
        <p:nvGrpSpPr>
          <p:cNvPr id="2074" name="그룹 10">
            <a:extLst>
              <a:ext uri="{FF2B5EF4-FFF2-40B4-BE49-F238E27FC236}">
                <a16:creationId xmlns:a16="http://schemas.microsoft.com/office/drawing/2014/main" id="{2C2861E7-4097-7DE5-B0F7-71AB524A5C83}"/>
              </a:ext>
            </a:extLst>
          </p:cNvPr>
          <p:cNvGrpSpPr/>
          <p:nvPr/>
        </p:nvGrpSpPr>
        <p:grpSpPr>
          <a:xfrm rot="1743693">
            <a:off x="-1306692" y="4550016"/>
            <a:ext cx="1401813" cy="2198869"/>
            <a:chOff x="7020562" y="1193876"/>
            <a:chExt cx="2881086" cy="5095851"/>
          </a:xfrm>
        </p:grpSpPr>
        <p:pic>
          <p:nvPicPr>
            <p:cNvPr id="2075" name="그림 2">
              <a:extLst>
                <a:ext uri="{FF2B5EF4-FFF2-40B4-BE49-F238E27FC236}">
                  <a16:creationId xmlns:a16="http://schemas.microsoft.com/office/drawing/2014/main" id="{EC59AE53-CF87-335C-C716-82ADAC1327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335364" y="1298234"/>
              <a:ext cx="2278505" cy="4841823"/>
            </a:xfrm>
            <a:prstGeom prst="roundRect">
              <a:avLst>
                <a:gd name="adj" fmla="val 12321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076" name="그림 5">
              <a:extLst>
                <a:ext uri="{FF2B5EF4-FFF2-40B4-BE49-F238E27FC236}">
                  <a16:creationId xmlns:a16="http://schemas.microsoft.com/office/drawing/2014/main" id="{75B104C7-31E2-F598-14DC-08786864A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20562" y="1193876"/>
              <a:ext cx="2881086" cy="5095851"/>
            </a:xfrm>
            <a:prstGeom prst="rect">
              <a:avLst/>
            </a:prstGeom>
          </p:spPr>
        </p:pic>
      </p:grpSp>
      <p:grpSp>
        <p:nvGrpSpPr>
          <p:cNvPr id="2077" name="그룹 21">
            <a:extLst>
              <a:ext uri="{FF2B5EF4-FFF2-40B4-BE49-F238E27FC236}">
                <a16:creationId xmlns:a16="http://schemas.microsoft.com/office/drawing/2014/main" id="{C0BE62E1-FAD7-42D7-3608-07AA6BFAEADB}"/>
              </a:ext>
            </a:extLst>
          </p:cNvPr>
          <p:cNvGrpSpPr/>
          <p:nvPr/>
        </p:nvGrpSpPr>
        <p:grpSpPr>
          <a:xfrm rot="1743693">
            <a:off x="-2621352" y="6557256"/>
            <a:ext cx="1401813" cy="2198869"/>
            <a:chOff x="7034073" y="1171219"/>
            <a:chExt cx="2881086" cy="5095851"/>
          </a:xfrm>
        </p:grpSpPr>
        <p:pic>
          <p:nvPicPr>
            <p:cNvPr id="2078" name="그림 23">
              <a:extLst>
                <a:ext uri="{FF2B5EF4-FFF2-40B4-BE49-F238E27FC236}">
                  <a16:creationId xmlns:a16="http://schemas.microsoft.com/office/drawing/2014/main" id="{9AE012E8-4647-C8C4-05D5-B6AB08B2E0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335364" y="1298234"/>
              <a:ext cx="2278505" cy="4841823"/>
            </a:xfrm>
            <a:prstGeom prst="roundRect">
              <a:avLst>
                <a:gd name="adj" fmla="val 12321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079" name="그림 24">
              <a:extLst>
                <a:ext uri="{FF2B5EF4-FFF2-40B4-BE49-F238E27FC236}">
                  <a16:creationId xmlns:a16="http://schemas.microsoft.com/office/drawing/2014/main" id="{0B552ABE-EFEA-C69E-F03B-DBCCFA44C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4073" y="1171219"/>
              <a:ext cx="2881086" cy="5095851"/>
            </a:xfrm>
            <a:prstGeom prst="rect">
              <a:avLst/>
            </a:prstGeom>
          </p:spPr>
        </p:pic>
      </p:grpSp>
      <p:pic>
        <p:nvPicPr>
          <p:cNvPr id="2081" name="그림 35">
            <a:extLst>
              <a:ext uri="{FF2B5EF4-FFF2-40B4-BE49-F238E27FC236}">
                <a16:creationId xmlns:a16="http://schemas.microsoft.com/office/drawing/2014/main" id="{B493D06B-9533-AE8E-695B-CE9C6B94F8C4}"/>
              </a:ext>
            </a:extLst>
          </p:cNvPr>
          <p:cNvPicPr>
            <a:picLocks noChangeAspect="1"/>
          </p:cNvPicPr>
          <p:nvPr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9679" y="2338904"/>
            <a:ext cx="5354250" cy="2995445"/>
          </a:xfrm>
          <a:prstGeom prst="rect">
            <a:avLst/>
          </a:prstGeom>
        </p:spPr>
      </p:pic>
      <p:pic>
        <p:nvPicPr>
          <p:cNvPr id="2080" name="Picture 8" descr="컴퓨터 모니터 PNG HD 품질 | PNG Play">
            <a:extLst>
              <a:ext uri="{FF2B5EF4-FFF2-40B4-BE49-F238E27FC236}">
                <a16:creationId xmlns:a16="http://schemas.microsoft.com/office/drawing/2014/main" id="{7F05237F-78C8-79BC-D491-874216555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21322" y="2151132"/>
            <a:ext cx="5495874" cy="478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2" name="직사각형 9">
            <a:extLst>
              <a:ext uri="{FF2B5EF4-FFF2-40B4-BE49-F238E27FC236}">
                <a16:creationId xmlns:a16="http://schemas.microsoft.com/office/drawing/2014/main" id="{07C6C2CA-2941-376B-551A-39EBAD8B4CA1}"/>
              </a:ext>
            </a:extLst>
          </p:cNvPr>
          <p:cNvSpPr/>
          <p:nvPr/>
        </p:nvSpPr>
        <p:spPr>
          <a:xfrm>
            <a:off x="-2" y="115"/>
            <a:ext cx="12192002" cy="578949"/>
          </a:xfrm>
          <a:prstGeom prst="rect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E10045"/>
              </a:solidFill>
            </a:endParaRPr>
          </a:p>
        </p:txBody>
      </p:sp>
      <p:sp>
        <p:nvSpPr>
          <p:cNvPr id="2083" name="사각형: 둥근 모서리 3">
            <a:extLst>
              <a:ext uri="{FF2B5EF4-FFF2-40B4-BE49-F238E27FC236}">
                <a16:creationId xmlns:a16="http://schemas.microsoft.com/office/drawing/2014/main" id="{B2810514-CA98-7E8C-FFC5-0D880DEF70DA}"/>
              </a:ext>
            </a:extLst>
          </p:cNvPr>
          <p:cNvSpPr/>
          <p:nvPr/>
        </p:nvSpPr>
        <p:spPr>
          <a:xfrm>
            <a:off x="1914515" y="153660"/>
            <a:ext cx="1336685" cy="313376"/>
          </a:xfrm>
          <a:prstGeom prst="roundRect">
            <a:avLst>
              <a:gd name="adj" fmla="val 360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2084" name="TextBox 2083">
            <a:extLst>
              <a:ext uri="{FF2B5EF4-FFF2-40B4-BE49-F238E27FC236}">
                <a16:creationId xmlns:a16="http://schemas.microsoft.com/office/drawing/2014/main" id="{CBF1ADEF-E886-AF29-610F-5C71537E734E}"/>
              </a:ext>
            </a:extLst>
          </p:cNvPr>
          <p:cNvSpPr txBox="1"/>
          <p:nvPr/>
        </p:nvSpPr>
        <p:spPr>
          <a:xfrm>
            <a:off x="1962864" y="145323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rgbClr val="E10045"/>
                </a:solidFill>
              </a:rPr>
              <a:t>1 .</a:t>
            </a:r>
            <a:endParaRPr lang="ko-KR" altLang="en-US" sz="1600" b="1" spc="-150" dirty="0">
              <a:solidFill>
                <a:srgbClr val="E10045"/>
              </a:solidFill>
            </a:endParaRPr>
          </a:p>
        </p:txBody>
      </p:sp>
      <p:sp>
        <p:nvSpPr>
          <p:cNvPr id="2090" name="TextBox 2089">
            <a:extLst>
              <a:ext uri="{FF2B5EF4-FFF2-40B4-BE49-F238E27FC236}">
                <a16:creationId xmlns:a16="http://schemas.microsoft.com/office/drawing/2014/main" id="{D4CE83C4-74B6-AC9B-22A0-E3FD0BB79E4F}"/>
              </a:ext>
            </a:extLst>
          </p:cNvPr>
          <p:cNvSpPr txBox="1"/>
          <p:nvPr/>
        </p:nvSpPr>
        <p:spPr>
          <a:xfrm>
            <a:off x="2247022" y="164880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rgbClr val="E10045"/>
                </a:solidFill>
                <a:latin typeface="+mn-ea"/>
              </a:rPr>
              <a:t>직무역량</a:t>
            </a:r>
          </a:p>
        </p:txBody>
      </p:sp>
      <p:pic>
        <p:nvPicPr>
          <p:cNvPr id="2092" name="그림 33">
            <a:extLst>
              <a:ext uri="{FF2B5EF4-FFF2-40B4-BE49-F238E27FC236}">
                <a16:creationId xmlns:a16="http://schemas.microsoft.com/office/drawing/2014/main" id="{BE2CEB3A-EC6E-D8EF-DB81-61CE73D7DC5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29384"/>
            <a:ext cx="517413" cy="3385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47A48E-EEAB-B095-4A9B-D5A61CCC0111}"/>
              </a:ext>
            </a:extLst>
          </p:cNvPr>
          <p:cNvSpPr txBox="1"/>
          <p:nvPr/>
        </p:nvSpPr>
        <p:spPr>
          <a:xfrm>
            <a:off x="895716" y="1566582"/>
            <a:ext cx="4683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저는 사람들에게 정말로 필요한 서비스에 대해 진지하게 고민하며 프로젝트에 임합니다</a:t>
            </a:r>
            <a:r>
              <a:rPr lang="en-US" altLang="ko-KR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.</a:t>
            </a:r>
            <a:endParaRPr lang="ko-KR" altLang="en-US" sz="1000" b="1" spc="-15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4A25AA-073B-E400-7C96-B7D0BF6BD132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B145A4-09CD-E800-8D43-CFBD22734E09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A75161-7445-87F5-4B70-736239B4359E}"/>
              </a:ext>
            </a:extLst>
          </p:cNvPr>
          <p:cNvSpPr txBox="1"/>
          <p:nvPr/>
        </p:nvSpPr>
        <p:spPr>
          <a:xfrm>
            <a:off x="6205270" y="14996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CC3645-98A2-5A63-A566-B848D796F9D7}"/>
              </a:ext>
            </a:extLst>
          </p:cNvPr>
          <p:cNvSpPr txBox="1"/>
          <p:nvPr/>
        </p:nvSpPr>
        <p:spPr>
          <a:xfrm>
            <a:off x="4242916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논문 요약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A61E74-53D5-0681-288C-81E4FCF59F3C}"/>
              </a:ext>
            </a:extLst>
          </p:cNvPr>
          <p:cNvSpPr txBox="1"/>
          <p:nvPr/>
        </p:nvSpPr>
        <p:spPr>
          <a:xfrm>
            <a:off x="7807946" y="13253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1C54F4-CF4E-323E-6995-B51DD298678F}"/>
              </a:ext>
            </a:extLst>
          </p:cNvPr>
          <p:cNvSpPr txBox="1"/>
          <p:nvPr/>
        </p:nvSpPr>
        <p:spPr>
          <a:xfrm>
            <a:off x="8089784" y="15921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 방안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0592FC-7205-32D4-E35C-E3D70D99A916}"/>
              </a:ext>
            </a:extLst>
          </p:cNvPr>
          <p:cNvSpPr txBox="1"/>
          <p:nvPr/>
        </p:nvSpPr>
        <p:spPr>
          <a:xfrm>
            <a:off x="3880794" y="530962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69A1A9-30B9-6B97-407B-2877DAE56D71}"/>
              </a:ext>
            </a:extLst>
          </p:cNvPr>
          <p:cNvSpPr txBox="1"/>
          <p:nvPr/>
        </p:nvSpPr>
        <p:spPr>
          <a:xfrm>
            <a:off x="7866209" y="561488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EDECD90-0080-28C8-ACF9-84D16B6D04C0}"/>
              </a:ext>
            </a:extLst>
          </p:cNvPr>
          <p:cNvPicPr>
            <a:picLocks noChangeAspect="1"/>
          </p:cNvPicPr>
          <p:nvPr/>
        </p:nvPicPr>
        <p:blipFill>
          <a:blip r:embed="rId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501" y="5673089"/>
            <a:ext cx="11016091" cy="108374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9393DA7-7F31-0C31-682B-FF3BB821D167}"/>
              </a:ext>
            </a:extLst>
          </p:cNvPr>
          <p:cNvGrpSpPr/>
          <p:nvPr/>
        </p:nvGrpSpPr>
        <p:grpSpPr>
          <a:xfrm>
            <a:off x="-858433" y="1953107"/>
            <a:ext cx="13488843" cy="5045420"/>
            <a:chOff x="-858433" y="1933978"/>
            <a:chExt cx="13488843" cy="504542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37A3C13-406E-860B-16B3-E0E705E00605}"/>
                </a:ext>
              </a:extLst>
            </p:cNvPr>
            <p:cNvSpPr/>
            <p:nvPr/>
          </p:nvSpPr>
          <p:spPr>
            <a:xfrm>
              <a:off x="-858433" y="1933978"/>
              <a:ext cx="13488843" cy="5045420"/>
            </a:xfrm>
            <a:prstGeom prst="rect">
              <a:avLst/>
            </a:prstGeom>
            <a:solidFill>
              <a:schemeClr val="tx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KR" sz="2400" dirty="0">
                <a:latin typeface="Jalnan OTF" panose="020B0600000101010101" pitchFamily="34" charset="-127"/>
                <a:ea typeface="Jalnan OTF" panose="020B0600000101010101" pitchFamily="34" charset="-127"/>
              </a:endParaRPr>
            </a:p>
          </p:txBody>
        </p:sp>
        <p:pic>
          <p:nvPicPr>
            <p:cNvPr id="7174" name="Picture 6">
              <a:extLst>
                <a:ext uri="{FF2B5EF4-FFF2-40B4-BE49-F238E27FC236}">
                  <a16:creationId xmlns:a16="http://schemas.microsoft.com/office/drawing/2014/main" id="{82AF85C4-636A-5F90-4179-8FFD7B7C74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482" y="2955591"/>
              <a:ext cx="5235786" cy="2945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B5D6C0C-945D-942B-053E-C8FBC922A2D9}"/>
              </a:ext>
            </a:extLst>
          </p:cNvPr>
          <p:cNvGrpSpPr/>
          <p:nvPr/>
        </p:nvGrpSpPr>
        <p:grpSpPr>
          <a:xfrm>
            <a:off x="5927700" y="2961961"/>
            <a:ext cx="6090106" cy="2945129"/>
            <a:chOff x="5927700" y="2951448"/>
            <a:chExt cx="6090106" cy="2945129"/>
          </a:xfrm>
        </p:grpSpPr>
        <p:pic>
          <p:nvPicPr>
            <p:cNvPr id="7172" name="Picture 4">
              <a:extLst>
                <a:ext uri="{FF2B5EF4-FFF2-40B4-BE49-F238E27FC236}">
                  <a16:creationId xmlns:a16="http://schemas.microsoft.com/office/drawing/2014/main" id="{623CE408-731C-CC6D-78C2-58BD73046E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2021" y="2951448"/>
              <a:ext cx="5235785" cy="2945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B0BB0988-F790-9019-6D73-2410C80A8FF0}"/>
                </a:ext>
              </a:extLst>
            </p:cNvPr>
            <p:cNvSpPr/>
            <p:nvPr/>
          </p:nvSpPr>
          <p:spPr>
            <a:xfrm>
              <a:off x="5927700" y="4226515"/>
              <a:ext cx="557275" cy="476193"/>
            </a:xfrm>
            <a:prstGeom prst="rightArrow">
              <a:avLst/>
            </a:prstGeom>
            <a:solidFill>
              <a:srgbClr val="E100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11749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96E2253-41B7-F175-4D73-84CA2705EA81}"/>
              </a:ext>
            </a:extLst>
          </p:cNvPr>
          <p:cNvSpPr/>
          <p:nvPr/>
        </p:nvSpPr>
        <p:spPr>
          <a:xfrm>
            <a:off x="10105314" y="5825481"/>
            <a:ext cx="1686193" cy="118922"/>
          </a:xfrm>
          <a:prstGeom prst="rect">
            <a:avLst/>
          </a:prstGeom>
          <a:solidFill>
            <a:srgbClr val="E10045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D40AC2-60A7-0FF2-B433-746319598C34}"/>
              </a:ext>
            </a:extLst>
          </p:cNvPr>
          <p:cNvSpPr/>
          <p:nvPr/>
        </p:nvSpPr>
        <p:spPr>
          <a:xfrm>
            <a:off x="7745064" y="5845330"/>
            <a:ext cx="1514325" cy="118001"/>
          </a:xfrm>
          <a:prstGeom prst="rect">
            <a:avLst/>
          </a:prstGeom>
          <a:solidFill>
            <a:srgbClr val="E10045">
              <a:alpha val="2560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67DADA-78CA-BD35-9795-1BC50DBCCA1D}"/>
              </a:ext>
            </a:extLst>
          </p:cNvPr>
          <p:cNvSpPr/>
          <p:nvPr/>
        </p:nvSpPr>
        <p:spPr>
          <a:xfrm>
            <a:off x="5281022" y="5866351"/>
            <a:ext cx="1242118" cy="119519"/>
          </a:xfrm>
          <a:prstGeom prst="rect">
            <a:avLst/>
          </a:prstGeom>
          <a:solidFill>
            <a:srgbClr val="E10045">
              <a:alpha val="2564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1AD814-FFE6-D299-98AD-B5CE32465BC8}"/>
              </a:ext>
            </a:extLst>
          </p:cNvPr>
          <p:cNvSpPr/>
          <p:nvPr/>
        </p:nvSpPr>
        <p:spPr>
          <a:xfrm>
            <a:off x="5340244" y="2715933"/>
            <a:ext cx="661826" cy="108290"/>
          </a:xfrm>
          <a:prstGeom prst="rect">
            <a:avLst/>
          </a:prstGeom>
          <a:solidFill>
            <a:srgbClr val="E10045">
              <a:alpha val="2605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0B575E-61EC-628C-CDA2-2EA627F12B7C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BA55E-A11D-B013-8585-E927522C955F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F39C8B-A88F-8CD5-2486-88083BBF587E}"/>
              </a:ext>
            </a:extLst>
          </p:cNvPr>
          <p:cNvSpPr txBox="1"/>
          <p:nvPr/>
        </p:nvSpPr>
        <p:spPr>
          <a:xfrm>
            <a:off x="6205270" y="14996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7C55DD-0F85-5CCE-5BFE-8E9D8F8C5652}"/>
              </a:ext>
            </a:extLst>
          </p:cNvPr>
          <p:cNvSpPr txBox="1"/>
          <p:nvPr/>
        </p:nvSpPr>
        <p:spPr>
          <a:xfrm>
            <a:off x="7338593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54434B-6684-1922-35ED-6E2335102C06}"/>
              </a:ext>
            </a:extLst>
          </p:cNvPr>
          <p:cNvSpPr txBox="1"/>
          <p:nvPr/>
        </p:nvSpPr>
        <p:spPr>
          <a:xfrm>
            <a:off x="7654298" y="149964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기여방안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788F0D-1A5F-8DEB-BF70-4D2303549F54}"/>
              </a:ext>
            </a:extLst>
          </p:cNvPr>
          <p:cNvSpPr txBox="1"/>
          <p:nvPr/>
        </p:nvSpPr>
        <p:spPr>
          <a:xfrm>
            <a:off x="4242916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논문 요약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C9726487-8A3D-DAAB-CE5A-E1FE29428FC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18636"/>
            <a:ext cx="517413" cy="338554"/>
          </a:xfrm>
          <a:prstGeom prst="rect">
            <a:avLst/>
          </a:prstGeom>
        </p:spPr>
      </p:pic>
      <p:grpSp>
        <p:nvGrpSpPr>
          <p:cNvPr id="2068" name="그룹 9">
            <a:extLst>
              <a:ext uri="{FF2B5EF4-FFF2-40B4-BE49-F238E27FC236}">
                <a16:creationId xmlns:a16="http://schemas.microsoft.com/office/drawing/2014/main" id="{4DEDBDE1-2A5A-0197-B167-D98ADBA2521A}"/>
              </a:ext>
            </a:extLst>
          </p:cNvPr>
          <p:cNvGrpSpPr/>
          <p:nvPr/>
        </p:nvGrpSpPr>
        <p:grpSpPr>
          <a:xfrm rot="1743693">
            <a:off x="4604565" y="11160119"/>
            <a:ext cx="1401813" cy="2198869"/>
            <a:chOff x="793249" y="1320640"/>
            <a:chExt cx="2881086" cy="5095851"/>
          </a:xfrm>
        </p:grpSpPr>
        <p:pic>
          <p:nvPicPr>
            <p:cNvPr id="2069" name="그림 7">
              <a:extLst>
                <a:ext uri="{FF2B5EF4-FFF2-40B4-BE49-F238E27FC236}">
                  <a16:creationId xmlns:a16="http://schemas.microsoft.com/office/drawing/2014/main" id="{012B5800-A0B8-573E-8EE3-7DABA4F2A2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582"/>
            <a:stretch/>
          </p:blipFill>
          <p:spPr>
            <a:xfrm>
              <a:off x="1086561" y="1430164"/>
              <a:ext cx="2294461" cy="4835237"/>
            </a:xfrm>
            <a:prstGeom prst="roundRect">
              <a:avLst>
                <a:gd name="adj" fmla="val 13425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070" name="그림 8">
              <a:extLst>
                <a:ext uri="{FF2B5EF4-FFF2-40B4-BE49-F238E27FC236}">
                  <a16:creationId xmlns:a16="http://schemas.microsoft.com/office/drawing/2014/main" id="{BB4AF561-F287-4351-3700-0029BD1B9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3249" y="1320640"/>
              <a:ext cx="2881086" cy="5095851"/>
            </a:xfrm>
            <a:prstGeom prst="rect">
              <a:avLst/>
            </a:prstGeom>
          </p:spPr>
        </p:pic>
      </p:grpSp>
      <p:sp>
        <p:nvSpPr>
          <p:cNvPr id="2082" name="직사각형 9">
            <a:extLst>
              <a:ext uri="{FF2B5EF4-FFF2-40B4-BE49-F238E27FC236}">
                <a16:creationId xmlns:a16="http://schemas.microsoft.com/office/drawing/2014/main" id="{07C6C2CA-2941-376B-551A-39EBAD8B4CA1}"/>
              </a:ext>
            </a:extLst>
          </p:cNvPr>
          <p:cNvSpPr/>
          <p:nvPr/>
        </p:nvSpPr>
        <p:spPr>
          <a:xfrm>
            <a:off x="-2" y="9186"/>
            <a:ext cx="12192002" cy="578949"/>
          </a:xfrm>
          <a:prstGeom prst="rect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E10045"/>
              </a:solidFill>
            </a:endParaRPr>
          </a:p>
        </p:txBody>
      </p:sp>
      <p:sp>
        <p:nvSpPr>
          <p:cNvPr id="2084" name="TextBox 2083">
            <a:extLst>
              <a:ext uri="{FF2B5EF4-FFF2-40B4-BE49-F238E27FC236}">
                <a16:creationId xmlns:a16="http://schemas.microsoft.com/office/drawing/2014/main" id="{CBF1ADEF-E886-AF29-610F-5C71537E734E}"/>
              </a:ext>
            </a:extLst>
          </p:cNvPr>
          <p:cNvSpPr txBox="1"/>
          <p:nvPr/>
        </p:nvSpPr>
        <p:spPr>
          <a:xfrm>
            <a:off x="1962864" y="145323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2000"/>
                  </a:schemeClr>
                </a:solidFill>
              </a:rPr>
              <a:t>1 .</a:t>
            </a:r>
            <a:endParaRPr lang="ko-KR" altLang="en-US" sz="1600" b="1" spc="-150" dirty="0">
              <a:solidFill>
                <a:schemeClr val="bg1">
                  <a:alpha val="42000"/>
                </a:schemeClr>
              </a:solidFill>
            </a:endParaRPr>
          </a:p>
        </p:txBody>
      </p:sp>
      <p:sp>
        <p:nvSpPr>
          <p:cNvPr id="2090" name="TextBox 2089">
            <a:extLst>
              <a:ext uri="{FF2B5EF4-FFF2-40B4-BE49-F238E27FC236}">
                <a16:creationId xmlns:a16="http://schemas.microsoft.com/office/drawing/2014/main" id="{D4CE83C4-74B6-AC9B-22A0-E3FD0BB79E4F}"/>
              </a:ext>
            </a:extLst>
          </p:cNvPr>
          <p:cNvSpPr txBox="1"/>
          <p:nvPr/>
        </p:nvSpPr>
        <p:spPr>
          <a:xfrm>
            <a:off x="2247022" y="164880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직무역량</a:t>
            </a:r>
          </a:p>
        </p:txBody>
      </p:sp>
      <p:pic>
        <p:nvPicPr>
          <p:cNvPr id="2092" name="그림 33">
            <a:extLst>
              <a:ext uri="{FF2B5EF4-FFF2-40B4-BE49-F238E27FC236}">
                <a16:creationId xmlns:a16="http://schemas.microsoft.com/office/drawing/2014/main" id="{BE2CEB3A-EC6E-D8EF-DB81-61CE73D7DC5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29384"/>
            <a:ext cx="517413" cy="338554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6735F3D-B18C-6EA6-7A14-5556257CED17}"/>
              </a:ext>
            </a:extLst>
          </p:cNvPr>
          <p:cNvSpPr txBox="1">
            <a:spLocks/>
          </p:cNvSpPr>
          <p:nvPr/>
        </p:nvSpPr>
        <p:spPr>
          <a:xfrm>
            <a:off x="835320" y="1149440"/>
            <a:ext cx="8750503" cy="578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ko-KR" sz="3300" b="1" dirty="0">
                <a:solidFill>
                  <a:srgbClr val="E10045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QUIC</a:t>
            </a:r>
            <a:r>
              <a:rPr kumimoji="1" lang="ko-KR" altLang="en-US" sz="3300" b="1" dirty="0">
                <a:solidFill>
                  <a:srgbClr val="E10045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의 혼잡 제어 알고리즘 별 성능 비교 분석</a:t>
            </a:r>
            <a:endParaRPr kumimoji="1" lang="en-US" altLang="ko-KR" sz="3300" b="1" dirty="0">
              <a:solidFill>
                <a:srgbClr val="E10045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04C65-971A-3E58-1C47-043DB41A8056}"/>
              </a:ext>
            </a:extLst>
          </p:cNvPr>
          <p:cNvSpPr txBox="1"/>
          <p:nvPr/>
        </p:nvSpPr>
        <p:spPr>
          <a:xfrm>
            <a:off x="869189" y="1682659"/>
            <a:ext cx="306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QUIC </a:t>
            </a:r>
            <a:r>
              <a:rPr lang="ko-KR" altLang="en-US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의 혼잡제어 알고리즘 별 성능을 비교 분석했습니다</a:t>
            </a:r>
            <a:endParaRPr lang="ko-KR" altLang="en-US" sz="1000" b="1" spc="-15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+mn-ea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8A90B4A-7014-0B37-C8BD-0FEFF1C3F4E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9091" y="4176053"/>
            <a:ext cx="1962354" cy="149135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09B61E1-C5A0-0196-FE3E-9C55E615A14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5890" y="4394127"/>
            <a:ext cx="2664085" cy="87424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963341A-399A-2CBC-6690-1A9FF97981F6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05315" y="3573860"/>
            <a:ext cx="1438469" cy="209354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345ADB-4DB4-B268-7B93-3A88BBDAAC4D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5320" y="2884637"/>
            <a:ext cx="3839762" cy="26136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34D52E-5C9F-D150-7F94-11D03D528CD8}"/>
              </a:ext>
            </a:extLst>
          </p:cNvPr>
          <p:cNvSpPr txBox="1"/>
          <p:nvPr/>
        </p:nvSpPr>
        <p:spPr>
          <a:xfrm>
            <a:off x="5878276" y="145864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5A4C37-E0F6-B7A1-A7DA-C977EBE533EE}"/>
              </a:ext>
            </a:extLst>
          </p:cNvPr>
          <p:cNvSpPr txBox="1"/>
          <p:nvPr/>
        </p:nvSpPr>
        <p:spPr>
          <a:xfrm>
            <a:off x="6193981" y="161253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01EEBE-5F3C-FEBB-167D-07E3185D0973}"/>
              </a:ext>
            </a:extLst>
          </p:cNvPr>
          <p:cNvSpPr txBox="1"/>
          <p:nvPr/>
        </p:nvSpPr>
        <p:spPr>
          <a:xfrm>
            <a:off x="7785368" y="13253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DBA3D2-0DBE-CE44-F91D-2F0EF9899353}"/>
              </a:ext>
            </a:extLst>
          </p:cNvPr>
          <p:cNvSpPr txBox="1"/>
          <p:nvPr/>
        </p:nvSpPr>
        <p:spPr>
          <a:xfrm>
            <a:off x="8067206" y="15921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 방안</a:t>
            </a:r>
          </a:p>
        </p:txBody>
      </p:sp>
      <p:sp>
        <p:nvSpPr>
          <p:cNvPr id="23" name="사각형: 둥근 모서리 3">
            <a:extLst>
              <a:ext uri="{FF2B5EF4-FFF2-40B4-BE49-F238E27FC236}">
                <a16:creationId xmlns:a16="http://schemas.microsoft.com/office/drawing/2014/main" id="{7A2F8A68-0E09-0083-9990-034A8ED897FA}"/>
              </a:ext>
            </a:extLst>
          </p:cNvPr>
          <p:cNvSpPr/>
          <p:nvPr/>
        </p:nvSpPr>
        <p:spPr>
          <a:xfrm>
            <a:off x="3832866" y="145323"/>
            <a:ext cx="1336685" cy="313376"/>
          </a:xfrm>
          <a:prstGeom prst="roundRect">
            <a:avLst>
              <a:gd name="adj" fmla="val 360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A5AC-73CE-F8B7-64AA-4B70DE025222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rgbClr val="E10045"/>
                </a:solidFill>
              </a:rPr>
              <a:t>2 .</a:t>
            </a:r>
            <a:endParaRPr lang="ko-KR" altLang="en-US" sz="1600" b="1" spc="-150" dirty="0">
              <a:solidFill>
                <a:srgbClr val="E1004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4C522C-0296-3FD3-029D-CD07FDB8224B}"/>
              </a:ext>
            </a:extLst>
          </p:cNvPr>
          <p:cNvSpPr txBox="1"/>
          <p:nvPr/>
        </p:nvSpPr>
        <p:spPr>
          <a:xfrm>
            <a:off x="4209049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rgbClr val="E10045"/>
                </a:solidFill>
                <a:latin typeface="+mn-ea"/>
              </a:rPr>
              <a:t>논문 요약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FF1D6B4-CB7D-8FBB-3437-9CB789A2B5CC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8710" y="5686580"/>
            <a:ext cx="2819400" cy="317500"/>
          </a:xfrm>
          <a:prstGeom prst="rect">
            <a:avLst/>
          </a:prstGeom>
        </p:spPr>
      </p:pic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FDC132B-9BCE-365C-2074-62A91205CD82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080" y="5708560"/>
            <a:ext cx="1803400" cy="317500"/>
          </a:xfrm>
          <a:prstGeom prst="rect">
            <a:avLst/>
          </a:prstGeom>
        </p:spPr>
      </p:pic>
      <p:pic>
        <p:nvPicPr>
          <p:cNvPr id="41" name="Picture 4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1E05F20-9111-26AC-4003-6EB075922926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3876" y="5748412"/>
            <a:ext cx="1828800" cy="3302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F60C79B-838D-2521-BA9F-CED9DC7DA2E6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7230" y="2546005"/>
            <a:ext cx="67691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22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67DB84-4D65-6C77-1E42-1886D6B0BB7E}"/>
              </a:ext>
            </a:extLst>
          </p:cNvPr>
          <p:cNvSpPr/>
          <p:nvPr/>
        </p:nvSpPr>
        <p:spPr>
          <a:xfrm>
            <a:off x="619123" y="3907519"/>
            <a:ext cx="2740239" cy="115523"/>
          </a:xfrm>
          <a:prstGeom prst="rect">
            <a:avLst/>
          </a:prstGeom>
          <a:solidFill>
            <a:srgbClr val="E10045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560F37-D2F6-03F8-AB27-1BC8422150BA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B5CB15-CEE0-0F71-3A29-A7C319A1FB88}"/>
              </a:ext>
            </a:extLst>
          </p:cNvPr>
          <p:cNvSpPr txBox="1"/>
          <p:nvPr/>
        </p:nvSpPr>
        <p:spPr>
          <a:xfrm>
            <a:off x="9001054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5 .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4" name="직사각형 9">
            <a:extLst>
              <a:ext uri="{FF2B5EF4-FFF2-40B4-BE49-F238E27FC236}">
                <a16:creationId xmlns:a16="http://schemas.microsoft.com/office/drawing/2014/main" id="{7F7813D0-7A71-96B2-EA06-229FB132FCF4}"/>
              </a:ext>
            </a:extLst>
          </p:cNvPr>
          <p:cNvSpPr/>
          <p:nvPr/>
        </p:nvSpPr>
        <p:spPr>
          <a:xfrm>
            <a:off x="-2" y="0"/>
            <a:ext cx="12192002" cy="578949"/>
          </a:xfrm>
          <a:prstGeom prst="rect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E10045"/>
              </a:solidFill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C1B62FC1-EC4C-3A3E-E665-C93F5A68B26F}"/>
              </a:ext>
            </a:extLst>
          </p:cNvPr>
          <p:cNvSpPr/>
          <p:nvPr/>
        </p:nvSpPr>
        <p:spPr>
          <a:xfrm>
            <a:off x="5856705" y="142988"/>
            <a:ext cx="1336685" cy="313376"/>
          </a:xfrm>
          <a:prstGeom prst="roundRect">
            <a:avLst>
              <a:gd name="adj" fmla="val 360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87F58-AB29-CC38-58CC-DBC438EA120A}"/>
              </a:ext>
            </a:extLst>
          </p:cNvPr>
          <p:cNvSpPr txBox="1"/>
          <p:nvPr/>
        </p:nvSpPr>
        <p:spPr>
          <a:xfrm>
            <a:off x="1962864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2000"/>
                  </a:schemeClr>
                </a:solidFill>
              </a:rPr>
              <a:t>1 .</a:t>
            </a:r>
            <a:endParaRPr lang="ko-KR" altLang="en-US" sz="1600" b="1" spc="-150" dirty="0">
              <a:solidFill>
                <a:schemeClr val="bg1">
                  <a:alpha val="42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372A2F-CC0C-D47D-CABC-EA6262B26205}"/>
              </a:ext>
            </a:extLst>
          </p:cNvPr>
          <p:cNvSpPr txBox="1"/>
          <p:nvPr/>
        </p:nvSpPr>
        <p:spPr>
          <a:xfrm>
            <a:off x="2247022" y="154132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직무역량</a:t>
            </a:r>
          </a:p>
        </p:txBody>
      </p:sp>
      <p:pic>
        <p:nvPicPr>
          <p:cNvPr id="25" name="그림 33">
            <a:extLst>
              <a:ext uri="{FF2B5EF4-FFF2-40B4-BE49-F238E27FC236}">
                <a16:creationId xmlns:a16="http://schemas.microsoft.com/office/drawing/2014/main" id="{142B6BD5-1928-EFDA-66B7-2A1A8702BDE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18636"/>
            <a:ext cx="517413" cy="33855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8DD8233-28D8-265E-08F4-E7C4EAA7884E}"/>
              </a:ext>
            </a:extLst>
          </p:cNvPr>
          <p:cNvSpPr txBox="1"/>
          <p:nvPr/>
        </p:nvSpPr>
        <p:spPr>
          <a:xfrm>
            <a:off x="828675" y="2514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E342CC27-CD07-E6D3-97C8-49A3AF941667}"/>
              </a:ext>
            </a:extLst>
          </p:cNvPr>
          <p:cNvSpPr txBox="1">
            <a:spLocks/>
          </p:cNvSpPr>
          <p:nvPr/>
        </p:nvSpPr>
        <p:spPr>
          <a:xfrm>
            <a:off x="1129472" y="1156717"/>
            <a:ext cx="4331528" cy="5789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3600" b="1" dirty="0">
                <a:solidFill>
                  <a:srgbClr val="E10045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서론</a:t>
            </a:r>
            <a:endParaRPr kumimoji="1" lang="en-US" altLang="ko-KR" sz="3600" b="1" dirty="0">
              <a:solidFill>
                <a:srgbClr val="E10045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6BA2CC-656E-AD08-8138-8988A9294978}"/>
              </a:ext>
            </a:extLst>
          </p:cNvPr>
          <p:cNvSpPr txBox="1"/>
          <p:nvPr/>
        </p:nvSpPr>
        <p:spPr>
          <a:xfrm>
            <a:off x="1163340" y="1689936"/>
            <a:ext cx="4523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기존 이메일 전송이나 단순 웹페이지 검색에 사용되던 네트워크와 달리</a:t>
            </a:r>
            <a:endParaRPr lang="en-US" altLang="ko-KR" sz="1000" b="1" spc="-15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ko-KR" altLang="en-US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실시간 처리 및 대용량 대역폭을 필요로 하고 있고</a:t>
            </a:r>
            <a:r>
              <a:rPr lang="en-US" altLang="ko-KR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</a:t>
            </a:r>
            <a:r>
              <a:rPr lang="ko-KR" altLang="en-US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트래픽 예측 또한 힘듭니다</a:t>
            </a:r>
            <a:r>
              <a:rPr lang="en-US" altLang="ko-KR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  <a:endParaRPr lang="ko-KR" altLang="en-US" sz="1000" b="1" spc="-15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B74396-0966-B85B-9517-3306A8825E70}"/>
              </a:ext>
            </a:extLst>
          </p:cNvPr>
          <p:cNvSpPr txBox="1"/>
          <p:nvPr/>
        </p:nvSpPr>
        <p:spPr>
          <a:xfrm>
            <a:off x="485262" y="779854"/>
            <a:ext cx="463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spc="-150" dirty="0">
                <a:solidFill>
                  <a:srgbClr val="E10045"/>
                </a:solidFill>
                <a:latin typeface="+mj-ea"/>
                <a:ea typeface="+mj-ea"/>
              </a:rPr>
              <a:t>1</a:t>
            </a:r>
            <a:endParaRPr lang="ko-KR" altLang="en-US" sz="9600" b="1" spc="-150" dirty="0">
              <a:solidFill>
                <a:srgbClr val="E10045"/>
              </a:solidFill>
              <a:latin typeface="+mj-ea"/>
              <a:ea typeface="+mj-ea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8FE89AE-DC74-116D-F430-06E64F24AEC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216" y="4267498"/>
            <a:ext cx="2850146" cy="171991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B16392E-9757-61C8-043C-2965F2CB29B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9631" y="4566535"/>
            <a:ext cx="2065587" cy="135738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EF3B10D-C8AF-4E2C-0606-81EFC10C6419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3278" y="4579442"/>
            <a:ext cx="2092212" cy="135738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6CBE6ED-C6F7-F34E-D9A1-9C30EB1FEBD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9926" y="4057033"/>
            <a:ext cx="1912938" cy="1917471"/>
          </a:xfrm>
          <a:prstGeom prst="rect">
            <a:avLst/>
          </a:prstGeom>
        </p:spPr>
      </p:pic>
      <p:sp>
        <p:nvSpPr>
          <p:cNvPr id="50" name="Right Bracket 49">
            <a:extLst>
              <a:ext uri="{FF2B5EF4-FFF2-40B4-BE49-F238E27FC236}">
                <a16:creationId xmlns:a16="http://schemas.microsoft.com/office/drawing/2014/main" id="{F4531907-F31A-F2D3-9F76-CA5FA64EFEE0}"/>
              </a:ext>
            </a:extLst>
          </p:cNvPr>
          <p:cNvSpPr/>
          <p:nvPr/>
        </p:nvSpPr>
        <p:spPr>
          <a:xfrm rot="16200000">
            <a:off x="6174166" y="-1254131"/>
            <a:ext cx="175302" cy="8986842"/>
          </a:xfrm>
          <a:prstGeom prst="rightBracket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90C5E5-C591-AB72-70F3-923B1CFE89B6}"/>
              </a:ext>
            </a:extLst>
          </p:cNvPr>
          <p:cNvSpPr/>
          <p:nvPr/>
        </p:nvSpPr>
        <p:spPr>
          <a:xfrm>
            <a:off x="5729380" y="3845309"/>
            <a:ext cx="1588179" cy="115523"/>
          </a:xfrm>
          <a:prstGeom prst="rect">
            <a:avLst/>
          </a:prstGeom>
          <a:solidFill>
            <a:srgbClr val="E10045">
              <a:alpha val="260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25AA2-8399-3700-5C60-2D044AA8242B}"/>
              </a:ext>
            </a:extLst>
          </p:cNvPr>
          <p:cNvSpPr/>
          <p:nvPr/>
        </p:nvSpPr>
        <p:spPr>
          <a:xfrm>
            <a:off x="9955026" y="3831804"/>
            <a:ext cx="1271600" cy="118049"/>
          </a:xfrm>
          <a:prstGeom prst="rect">
            <a:avLst/>
          </a:prstGeom>
          <a:solidFill>
            <a:srgbClr val="E10045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5015E4-F8FB-2B06-8CD9-9F882E0B73CE}"/>
              </a:ext>
            </a:extLst>
          </p:cNvPr>
          <p:cNvSpPr/>
          <p:nvPr/>
        </p:nvSpPr>
        <p:spPr>
          <a:xfrm>
            <a:off x="3424852" y="2824411"/>
            <a:ext cx="416248" cy="128303"/>
          </a:xfrm>
          <a:prstGeom prst="rect">
            <a:avLst/>
          </a:prstGeom>
          <a:solidFill>
            <a:srgbClr val="E10045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AF1DE7-43A4-0852-26F8-3E10D1064EE1}"/>
              </a:ext>
            </a:extLst>
          </p:cNvPr>
          <p:cNvSpPr/>
          <p:nvPr/>
        </p:nvSpPr>
        <p:spPr>
          <a:xfrm>
            <a:off x="7395205" y="2822781"/>
            <a:ext cx="1380285" cy="115227"/>
          </a:xfrm>
          <a:prstGeom prst="rect">
            <a:avLst/>
          </a:prstGeom>
          <a:solidFill>
            <a:srgbClr val="E10045">
              <a:alpha val="2633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C1E4E0-FC17-4151-D1A9-7131C7203B87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4A2DB9-0F15-21A6-5DB4-4279AD0A396F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rgbClr val="E10045"/>
                </a:solidFill>
              </a:rPr>
              <a:t>3 .</a:t>
            </a:r>
            <a:endParaRPr lang="ko-KR" altLang="en-US" sz="1600" b="1" spc="-150" dirty="0">
              <a:solidFill>
                <a:srgbClr val="E10045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D604B4-2020-AF7D-667A-B02810224168}"/>
              </a:ext>
            </a:extLst>
          </p:cNvPr>
          <p:cNvSpPr txBox="1"/>
          <p:nvPr/>
        </p:nvSpPr>
        <p:spPr>
          <a:xfrm>
            <a:off x="6205270" y="14996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rgbClr val="E10045"/>
                </a:solidFill>
                <a:latin typeface="+mn-ea"/>
              </a:rPr>
              <a:t>논문 상세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063CB3-9A98-C094-C093-A6BC1BBA307B}"/>
              </a:ext>
            </a:extLst>
          </p:cNvPr>
          <p:cNvSpPr txBox="1"/>
          <p:nvPr/>
        </p:nvSpPr>
        <p:spPr>
          <a:xfrm>
            <a:off x="4242916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논문 요약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35EBBE-2545-9DE2-CB9F-812F56857778}"/>
              </a:ext>
            </a:extLst>
          </p:cNvPr>
          <p:cNvSpPr txBox="1"/>
          <p:nvPr/>
        </p:nvSpPr>
        <p:spPr>
          <a:xfrm>
            <a:off x="7751501" y="13253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53836D-2E1B-7801-8C94-CA2D1C630A11}"/>
              </a:ext>
            </a:extLst>
          </p:cNvPr>
          <p:cNvSpPr txBox="1"/>
          <p:nvPr/>
        </p:nvSpPr>
        <p:spPr>
          <a:xfrm>
            <a:off x="8033339" y="15921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 방안</a:t>
            </a:r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F0B3A870-F53F-AF64-5378-F5F4F0C405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5B680FB-E2B6-1C57-38FF-9EEE564720F5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79255" y="2714586"/>
            <a:ext cx="12359560" cy="141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584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2AEFD5-35F4-B1BB-1E9B-4BF86FE89FF4}"/>
              </a:ext>
            </a:extLst>
          </p:cNvPr>
          <p:cNvSpPr/>
          <p:nvPr/>
        </p:nvSpPr>
        <p:spPr>
          <a:xfrm>
            <a:off x="5100140" y="3961781"/>
            <a:ext cx="1746008" cy="109399"/>
          </a:xfrm>
          <a:prstGeom prst="rect">
            <a:avLst/>
          </a:prstGeom>
          <a:solidFill>
            <a:srgbClr val="E10045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8D2E0797-BCF1-09C9-F132-DB9EDFB2B74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7282" y="2164009"/>
            <a:ext cx="9834438" cy="122196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3B72368-E7D1-5D17-C6BE-D327DD82F582}"/>
              </a:ext>
            </a:extLst>
          </p:cNvPr>
          <p:cNvSpPr/>
          <p:nvPr/>
        </p:nvSpPr>
        <p:spPr>
          <a:xfrm>
            <a:off x="9434206" y="3915365"/>
            <a:ext cx="2209833" cy="109399"/>
          </a:xfrm>
          <a:prstGeom prst="rect">
            <a:avLst/>
          </a:prstGeom>
          <a:solidFill>
            <a:srgbClr val="E10045">
              <a:alpha val="2611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6A1A2F-54FE-CEB8-911C-DB3DF7BD41ED}"/>
              </a:ext>
            </a:extLst>
          </p:cNvPr>
          <p:cNvSpPr/>
          <p:nvPr/>
        </p:nvSpPr>
        <p:spPr>
          <a:xfrm>
            <a:off x="1167834" y="3974812"/>
            <a:ext cx="1110025" cy="74557"/>
          </a:xfrm>
          <a:prstGeom prst="rect">
            <a:avLst/>
          </a:prstGeom>
          <a:solidFill>
            <a:srgbClr val="E10045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560F37-D2F6-03F8-AB27-1BC8422150BA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B5CB15-CEE0-0F71-3A29-A7C319A1FB88}"/>
              </a:ext>
            </a:extLst>
          </p:cNvPr>
          <p:cNvSpPr txBox="1"/>
          <p:nvPr/>
        </p:nvSpPr>
        <p:spPr>
          <a:xfrm>
            <a:off x="9001054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5 .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4" name="직사각형 9">
            <a:extLst>
              <a:ext uri="{FF2B5EF4-FFF2-40B4-BE49-F238E27FC236}">
                <a16:creationId xmlns:a16="http://schemas.microsoft.com/office/drawing/2014/main" id="{7F7813D0-7A71-96B2-EA06-229FB132FCF4}"/>
              </a:ext>
            </a:extLst>
          </p:cNvPr>
          <p:cNvSpPr/>
          <p:nvPr/>
        </p:nvSpPr>
        <p:spPr>
          <a:xfrm>
            <a:off x="-2" y="0"/>
            <a:ext cx="12192002" cy="578949"/>
          </a:xfrm>
          <a:prstGeom prst="rect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87F58-AB29-CC38-58CC-DBC438EA120A}"/>
              </a:ext>
            </a:extLst>
          </p:cNvPr>
          <p:cNvSpPr txBox="1"/>
          <p:nvPr/>
        </p:nvSpPr>
        <p:spPr>
          <a:xfrm>
            <a:off x="1962864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2000"/>
                  </a:schemeClr>
                </a:solidFill>
              </a:rPr>
              <a:t>1 .</a:t>
            </a:r>
            <a:endParaRPr lang="ko-KR" altLang="en-US" sz="1600" b="1" spc="-150" dirty="0">
              <a:solidFill>
                <a:schemeClr val="bg1">
                  <a:alpha val="42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372A2F-CC0C-D47D-CABC-EA6262B26205}"/>
              </a:ext>
            </a:extLst>
          </p:cNvPr>
          <p:cNvSpPr txBox="1"/>
          <p:nvPr/>
        </p:nvSpPr>
        <p:spPr>
          <a:xfrm>
            <a:off x="2247022" y="154132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직무역량</a:t>
            </a:r>
          </a:p>
        </p:txBody>
      </p:sp>
      <p:pic>
        <p:nvPicPr>
          <p:cNvPr id="25" name="그림 33">
            <a:extLst>
              <a:ext uri="{FF2B5EF4-FFF2-40B4-BE49-F238E27FC236}">
                <a16:creationId xmlns:a16="http://schemas.microsoft.com/office/drawing/2014/main" id="{142B6BD5-1928-EFDA-66B7-2A1A8702BDE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18636"/>
            <a:ext cx="517413" cy="338554"/>
          </a:xfrm>
          <a:prstGeom prst="rect">
            <a:avLst/>
          </a:prstGeom>
        </p:spPr>
      </p:pic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E342CC27-CD07-E6D3-97C8-49A3AF941667}"/>
              </a:ext>
            </a:extLst>
          </p:cNvPr>
          <p:cNvSpPr txBox="1">
            <a:spLocks/>
          </p:cNvSpPr>
          <p:nvPr/>
        </p:nvSpPr>
        <p:spPr>
          <a:xfrm>
            <a:off x="1129472" y="1156717"/>
            <a:ext cx="9428996" cy="578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3600" b="1" dirty="0">
                <a:solidFill>
                  <a:srgbClr val="E10045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실험 결과</a:t>
            </a:r>
            <a:endParaRPr kumimoji="1" lang="en-US" altLang="ko-KR" sz="3600" b="1" dirty="0">
              <a:solidFill>
                <a:srgbClr val="E10045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6BA2CC-656E-AD08-8138-8988A9294978}"/>
              </a:ext>
            </a:extLst>
          </p:cNvPr>
          <p:cNvSpPr txBox="1"/>
          <p:nvPr/>
        </p:nvSpPr>
        <p:spPr>
          <a:xfrm>
            <a:off x="1163340" y="1689936"/>
            <a:ext cx="3948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Ns3 </a:t>
            </a:r>
            <a:r>
              <a:rPr lang="ko-KR" altLang="en-US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환경에서 손실</a:t>
            </a:r>
            <a:r>
              <a:rPr lang="en-US" altLang="ko-KR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,</a:t>
            </a:r>
            <a:r>
              <a:rPr lang="ko-KR" altLang="en-US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 지연</a:t>
            </a:r>
            <a:r>
              <a:rPr lang="en-US" altLang="ko-KR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,</a:t>
            </a:r>
            <a:r>
              <a:rPr lang="ko-KR" altLang="en-US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  연결 개수에 따른 성능을 비교 분석했습니다</a:t>
            </a:r>
            <a:r>
              <a:rPr lang="en-US" altLang="ko-KR" sz="1000" b="1" spc="-15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.</a:t>
            </a:r>
            <a:endParaRPr lang="ko-KR" altLang="en-US" sz="1000" b="1" spc="-15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B74396-0966-B85B-9517-3306A8825E70}"/>
              </a:ext>
            </a:extLst>
          </p:cNvPr>
          <p:cNvSpPr txBox="1"/>
          <p:nvPr/>
        </p:nvSpPr>
        <p:spPr>
          <a:xfrm>
            <a:off x="485262" y="779854"/>
            <a:ext cx="463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spc="-150" dirty="0">
                <a:solidFill>
                  <a:srgbClr val="E10045"/>
                </a:solidFill>
                <a:latin typeface="+mj-ea"/>
                <a:ea typeface="+mj-ea"/>
              </a:rPr>
              <a:t>2</a:t>
            </a:r>
            <a:endParaRPr lang="ko-KR" altLang="en-US" sz="9600" b="1" spc="-150" dirty="0">
              <a:solidFill>
                <a:srgbClr val="E10045"/>
              </a:solidFill>
              <a:latin typeface="+mj-ea"/>
              <a:ea typeface="+mj-e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AA59A3-BF8C-D082-0634-8CDFB677EBD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749" y="4164983"/>
            <a:ext cx="2894194" cy="2174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5115A2-762B-5A09-8490-A6719BFAF29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5416" y="4453613"/>
            <a:ext cx="5304144" cy="1705555"/>
          </a:xfrm>
          <a:prstGeom prst="rect">
            <a:avLst/>
          </a:prstGeom>
        </p:spPr>
      </p:pic>
      <p:sp>
        <p:nvSpPr>
          <p:cNvPr id="9" name="사각형: 둥근 모서리 3">
            <a:extLst>
              <a:ext uri="{FF2B5EF4-FFF2-40B4-BE49-F238E27FC236}">
                <a16:creationId xmlns:a16="http://schemas.microsoft.com/office/drawing/2014/main" id="{BCA7F785-BA7A-44A3-0AFF-4836F9157A19}"/>
              </a:ext>
            </a:extLst>
          </p:cNvPr>
          <p:cNvSpPr/>
          <p:nvPr/>
        </p:nvSpPr>
        <p:spPr>
          <a:xfrm>
            <a:off x="5856705" y="142988"/>
            <a:ext cx="1336685" cy="313376"/>
          </a:xfrm>
          <a:prstGeom prst="roundRect">
            <a:avLst>
              <a:gd name="adj" fmla="val 360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E634B6-F478-8A84-9CF1-37CCAC42C1FA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87B12-64F8-4C51-945B-EDBF660D32AF}"/>
              </a:ext>
            </a:extLst>
          </p:cNvPr>
          <p:cNvSpPr txBox="1"/>
          <p:nvPr/>
        </p:nvSpPr>
        <p:spPr>
          <a:xfrm>
            <a:off x="5889565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rgbClr val="E10045"/>
                </a:solidFill>
              </a:rPr>
              <a:t>3 .</a:t>
            </a:r>
            <a:endParaRPr lang="ko-KR" altLang="en-US" sz="1600" b="1" spc="-150" dirty="0">
              <a:solidFill>
                <a:srgbClr val="E10045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50CAE0-088C-30C7-0B6F-A38969F75365}"/>
              </a:ext>
            </a:extLst>
          </p:cNvPr>
          <p:cNvSpPr txBox="1"/>
          <p:nvPr/>
        </p:nvSpPr>
        <p:spPr>
          <a:xfrm>
            <a:off x="6205270" y="14996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rgbClr val="E10045"/>
                </a:solidFill>
                <a:latin typeface="+mn-ea"/>
              </a:rPr>
              <a:t>논문 상세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25EDEC-0ECD-7399-33CE-DF185D5A7FF3}"/>
              </a:ext>
            </a:extLst>
          </p:cNvPr>
          <p:cNvSpPr txBox="1"/>
          <p:nvPr/>
        </p:nvSpPr>
        <p:spPr>
          <a:xfrm>
            <a:off x="4242916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논문 요약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4A8883-F6B0-3B6D-68AD-5558393382A2}"/>
              </a:ext>
            </a:extLst>
          </p:cNvPr>
          <p:cNvSpPr txBox="1"/>
          <p:nvPr/>
        </p:nvSpPr>
        <p:spPr>
          <a:xfrm>
            <a:off x="7751501" y="13253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4 .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75F900-FBF1-DC5D-0D04-2D265E900BE1}"/>
              </a:ext>
            </a:extLst>
          </p:cNvPr>
          <p:cNvSpPr txBox="1"/>
          <p:nvPr/>
        </p:nvSpPr>
        <p:spPr>
          <a:xfrm>
            <a:off x="8033339" y="15921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1965"/>
                  </a:schemeClr>
                </a:solidFill>
                <a:latin typeface="+mn-ea"/>
              </a:rPr>
              <a:t>기여 방안</a:t>
            </a:r>
          </a:p>
        </p:txBody>
      </p:sp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C8AEF3-B712-6672-1859-F1D51A60CDF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9694" y="2295004"/>
            <a:ext cx="5770124" cy="1079489"/>
          </a:xfrm>
          <a:prstGeom prst="rect">
            <a:avLst/>
          </a:prstGeom>
        </p:spPr>
      </p:pic>
      <p:pic>
        <p:nvPicPr>
          <p:cNvPr id="41" name="Picture 4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ED223DC-FEBD-9719-E577-02BD1DE5EE0C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1896" y="6198425"/>
            <a:ext cx="1981200" cy="279400"/>
          </a:xfrm>
          <a:prstGeom prst="rect">
            <a:avLst/>
          </a:prstGeom>
        </p:spPr>
      </p:pic>
      <p:pic>
        <p:nvPicPr>
          <p:cNvPr id="43" name="Picture 4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FAF2805-505F-6B45-E599-24CF605954E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3260" y="6198425"/>
            <a:ext cx="1981200" cy="279400"/>
          </a:xfrm>
          <a:prstGeom prst="rect">
            <a:avLst/>
          </a:prstGeom>
        </p:spPr>
      </p:pic>
      <p:pic>
        <p:nvPicPr>
          <p:cNvPr id="47" name="Picture 4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E679409-F7D1-8690-7B14-0308375434F2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7834" y="3802382"/>
            <a:ext cx="1308100" cy="330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1F16AB-2D86-213F-DD6B-C64B064EAE48}"/>
              </a:ext>
            </a:extLst>
          </p:cNvPr>
          <p:cNvSpPr txBox="1"/>
          <p:nvPr/>
        </p:nvSpPr>
        <p:spPr>
          <a:xfrm>
            <a:off x="5042265" y="3800564"/>
            <a:ext cx="20371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Jalnan OTF" panose="020B0600000101010101" pitchFamily="34" charset="-127"/>
                <a:ea typeface="Jalnan OTF" panose="020B0600000101010101" pitchFamily="34" charset="-127"/>
              </a:rPr>
              <a:t>손실에 따른 성능 분석 결과</a:t>
            </a:r>
            <a:endParaRPr lang="en-KR" sz="1100" dirty="0">
              <a:latin typeface="Jalnan OTF" panose="020B0600000101010101" pitchFamily="34" charset="-127"/>
              <a:ea typeface="Jalnan OTF" panose="020B0600000101010101" pitchFamily="34" charset="-12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B02B55C-2825-5F62-4015-5E4B91BF96B6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0616" y="4460632"/>
            <a:ext cx="2683969" cy="1776039"/>
          </a:xfrm>
          <a:prstGeom prst="rect">
            <a:avLst/>
          </a:prstGeom>
        </p:spPr>
      </p:pic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7F05084-A325-E63F-DBD0-0CEFEFC6F5D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81120" y="6247113"/>
            <a:ext cx="1981200" cy="279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22C6616-7FD5-3FE6-45AA-4DEC34D546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0354" y="3762965"/>
            <a:ext cx="23622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685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9">
            <a:extLst>
              <a:ext uri="{FF2B5EF4-FFF2-40B4-BE49-F238E27FC236}">
                <a16:creationId xmlns:a16="http://schemas.microsoft.com/office/drawing/2014/main" id="{46DFBF08-322A-375E-333B-EBEEA88E8EDF}"/>
              </a:ext>
            </a:extLst>
          </p:cNvPr>
          <p:cNvSpPr/>
          <p:nvPr/>
        </p:nvSpPr>
        <p:spPr>
          <a:xfrm>
            <a:off x="-2" y="0"/>
            <a:ext cx="12192002" cy="578949"/>
          </a:xfrm>
          <a:prstGeom prst="rect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E10045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4B4080-6345-6D6D-1827-F90FA0834A12}"/>
              </a:ext>
            </a:extLst>
          </p:cNvPr>
          <p:cNvSpPr txBox="1"/>
          <p:nvPr/>
        </p:nvSpPr>
        <p:spPr>
          <a:xfrm>
            <a:off x="1962864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2000"/>
                  </a:schemeClr>
                </a:solidFill>
              </a:rPr>
              <a:t>1 .</a:t>
            </a:r>
            <a:endParaRPr lang="ko-KR" altLang="en-US" sz="1600" b="1" spc="-150" dirty="0">
              <a:solidFill>
                <a:schemeClr val="bg1">
                  <a:alpha val="42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B8F43C-8255-7CC6-4FE7-BEB2A3B68CE2}"/>
              </a:ext>
            </a:extLst>
          </p:cNvPr>
          <p:cNvSpPr txBox="1"/>
          <p:nvPr/>
        </p:nvSpPr>
        <p:spPr>
          <a:xfrm>
            <a:off x="2247022" y="154132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직무역량</a:t>
            </a:r>
          </a:p>
        </p:txBody>
      </p:sp>
      <p:pic>
        <p:nvPicPr>
          <p:cNvPr id="21" name="그림 33">
            <a:extLst>
              <a:ext uri="{FF2B5EF4-FFF2-40B4-BE49-F238E27FC236}">
                <a16:creationId xmlns:a16="http://schemas.microsoft.com/office/drawing/2014/main" id="{15EF9A7B-B7EC-85BC-CEFA-6917A13810F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693" y="118636"/>
            <a:ext cx="517413" cy="33855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6467368-C724-60B3-73AE-3CDF6F44B812}"/>
              </a:ext>
            </a:extLst>
          </p:cNvPr>
          <p:cNvSpPr txBox="1"/>
          <p:nvPr/>
        </p:nvSpPr>
        <p:spPr>
          <a:xfrm>
            <a:off x="6002070" y="160712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rgbClr val="E10045"/>
                </a:solidFill>
                <a:latin typeface="+mn-ea"/>
              </a:rPr>
              <a:t>기여 방안</a:t>
            </a:r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6099ADF1-C9B0-7380-2B99-05FD83AEA133}"/>
              </a:ext>
            </a:extLst>
          </p:cNvPr>
          <p:cNvSpPr txBox="1">
            <a:spLocks/>
          </p:cNvSpPr>
          <p:nvPr/>
        </p:nvSpPr>
        <p:spPr>
          <a:xfrm>
            <a:off x="3021679" y="1527121"/>
            <a:ext cx="3562444" cy="578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kumimoji="1" lang="en-US" altLang="ko-KR" sz="3600" b="1" dirty="0">
              <a:solidFill>
                <a:schemeClr val="bg1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AEA183B-8B26-6A84-7568-8CD0F8CF81F2}"/>
              </a:ext>
            </a:extLst>
          </p:cNvPr>
          <p:cNvGrpSpPr/>
          <p:nvPr/>
        </p:nvGrpSpPr>
        <p:grpSpPr>
          <a:xfrm rot="10800000">
            <a:off x="6080585" y="3972972"/>
            <a:ext cx="2383467" cy="2374122"/>
            <a:chOff x="3252717" y="1171375"/>
            <a:chExt cx="2383467" cy="2374122"/>
          </a:xfrm>
          <a:solidFill>
            <a:srgbClr val="E10045"/>
          </a:solidFill>
        </p:grpSpPr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B0565C96-AE07-EBF4-F1A5-A9398BFFC33B}"/>
                </a:ext>
              </a:extLst>
            </p:cNvPr>
            <p:cNvSpPr/>
            <p:nvPr/>
          </p:nvSpPr>
          <p:spPr>
            <a:xfrm>
              <a:off x="3257139" y="1171375"/>
              <a:ext cx="2372417" cy="2372417"/>
            </a:xfrm>
            <a:prstGeom prst="roundRect">
              <a:avLst>
                <a:gd name="adj" fmla="val 1109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3ED40E2-3CE6-0537-750D-828527DE8284}"/>
                </a:ext>
              </a:extLst>
            </p:cNvPr>
            <p:cNvSpPr/>
            <p:nvPr/>
          </p:nvSpPr>
          <p:spPr>
            <a:xfrm>
              <a:off x="4736370" y="1171375"/>
              <a:ext cx="899814" cy="745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791283A-8FA7-91CB-D09A-215460CBE103}"/>
                </a:ext>
              </a:extLst>
            </p:cNvPr>
            <p:cNvSpPr/>
            <p:nvPr/>
          </p:nvSpPr>
          <p:spPr>
            <a:xfrm>
              <a:off x="4727406" y="2800131"/>
              <a:ext cx="899814" cy="745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966841F-5C7B-157C-7BF3-891BDD8AD7FA}"/>
                </a:ext>
              </a:extLst>
            </p:cNvPr>
            <p:cNvSpPr/>
            <p:nvPr/>
          </p:nvSpPr>
          <p:spPr>
            <a:xfrm>
              <a:off x="3252717" y="2793981"/>
              <a:ext cx="899814" cy="745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B1B276B2-BDEF-6B25-DA97-B28C67C78E77}"/>
              </a:ext>
            </a:extLst>
          </p:cNvPr>
          <p:cNvSpPr/>
          <p:nvPr/>
        </p:nvSpPr>
        <p:spPr>
          <a:xfrm>
            <a:off x="6841846" y="3521157"/>
            <a:ext cx="899814" cy="8661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3D73D9A-1669-BD27-F01F-D1F053E540BC}"/>
              </a:ext>
            </a:extLst>
          </p:cNvPr>
          <p:cNvGrpSpPr/>
          <p:nvPr/>
        </p:nvGrpSpPr>
        <p:grpSpPr>
          <a:xfrm>
            <a:off x="5640629" y="1169078"/>
            <a:ext cx="2848001" cy="2805599"/>
            <a:chOff x="5640629" y="1169078"/>
            <a:chExt cx="2848001" cy="2805599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AB8DDB6-8586-1A3A-B2F7-8554BC075F1E}"/>
                </a:ext>
              </a:extLst>
            </p:cNvPr>
            <p:cNvGrpSpPr/>
            <p:nvPr/>
          </p:nvGrpSpPr>
          <p:grpSpPr>
            <a:xfrm>
              <a:off x="6114851" y="1169078"/>
              <a:ext cx="2373779" cy="2805599"/>
              <a:chOff x="6114851" y="1169078"/>
              <a:chExt cx="2373779" cy="2805599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83B0E258-A123-5C69-D399-7BF8394AD2DA}"/>
                  </a:ext>
                </a:extLst>
              </p:cNvPr>
              <p:cNvGrpSpPr/>
              <p:nvPr/>
            </p:nvGrpSpPr>
            <p:grpSpPr>
              <a:xfrm rot="5400000">
                <a:off x="6108857" y="1175072"/>
                <a:ext cx="2385767" cy="2373779"/>
                <a:chOff x="3250417" y="1165568"/>
                <a:chExt cx="2385767" cy="2373779"/>
              </a:xfrm>
              <a:solidFill>
                <a:srgbClr val="E10045"/>
              </a:solidFill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9C43969-714B-68B5-E430-B83BCD5B5EED}"/>
                    </a:ext>
                  </a:extLst>
                </p:cNvPr>
                <p:cNvSpPr/>
                <p:nvPr/>
              </p:nvSpPr>
              <p:spPr>
                <a:xfrm>
                  <a:off x="4736370" y="1165569"/>
                  <a:ext cx="899814" cy="75117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B3938B8A-74C1-E1E3-1215-882BFC9B416A}"/>
                    </a:ext>
                  </a:extLst>
                </p:cNvPr>
                <p:cNvSpPr/>
                <p:nvPr/>
              </p:nvSpPr>
              <p:spPr>
                <a:xfrm>
                  <a:off x="4727406" y="2789498"/>
                  <a:ext cx="899814" cy="74536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D20DB332-DA64-057B-B6ED-5D857222E497}"/>
                    </a:ext>
                  </a:extLst>
                </p:cNvPr>
                <p:cNvSpPr/>
                <p:nvPr/>
              </p:nvSpPr>
              <p:spPr>
                <a:xfrm>
                  <a:off x="3252717" y="2793981"/>
                  <a:ext cx="899814" cy="74536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46" name="Rounded Rectangle 45">
                  <a:extLst>
                    <a:ext uri="{FF2B5EF4-FFF2-40B4-BE49-F238E27FC236}">
                      <a16:creationId xmlns:a16="http://schemas.microsoft.com/office/drawing/2014/main" id="{9CF69BE2-EF6C-0B71-7050-9B96786FAB64}"/>
                    </a:ext>
                  </a:extLst>
                </p:cNvPr>
                <p:cNvSpPr/>
                <p:nvPr/>
              </p:nvSpPr>
              <p:spPr>
                <a:xfrm>
                  <a:off x="3250417" y="1165568"/>
                  <a:ext cx="2372417" cy="2372417"/>
                </a:xfrm>
                <a:prstGeom prst="roundRect">
                  <a:avLst>
                    <a:gd name="adj" fmla="val 11093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dirty="0"/>
                </a:p>
              </p:txBody>
            </p:sp>
          </p:grp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6624A75-EB32-2B81-5266-A7C76524DAD0}"/>
                  </a:ext>
                </a:extLst>
              </p:cNvPr>
              <p:cNvSpPr/>
              <p:nvPr/>
            </p:nvSpPr>
            <p:spPr>
              <a:xfrm>
                <a:off x="6842025" y="3108547"/>
                <a:ext cx="899814" cy="866130"/>
              </a:xfrm>
              <a:prstGeom prst="ellipse">
                <a:avLst/>
              </a:prstGeom>
              <a:solidFill>
                <a:srgbClr val="E100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197105B-C929-6240-8481-09A42BF42666}"/>
                </a:ext>
              </a:extLst>
            </p:cNvPr>
            <p:cNvSpPr/>
            <p:nvPr/>
          </p:nvSpPr>
          <p:spPr>
            <a:xfrm>
              <a:off x="5640629" y="1934793"/>
              <a:ext cx="899814" cy="8661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F8049E-2E57-55DE-A049-3F39EA260EA5}"/>
              </a:ext>
            </a:extLst>
          </p:cNvPr>
          <p:cNvGrpSpPr/>
          <p:nvPr/>
        </p:nvGrpSpPr>
        <p:grpSpPr>
          <a:xfrm>
            <a:off x="3273915" y="1175624"/>
            <a:ext cx="2385136" cy="2374122"/>
            <a:chOff x="3252717" y="1171375"/>
            <a:chExt cx="2385136" cy="2374122"/>
          </a:xfrm>
          <a:solidFill>
            <a:srgbClr val="E10045"/>
          </a:solidFill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C03DFF6A-D00F-8692-36AB-C90B3EEFD7FA}"/>
                </a:ext>
              </a:extLst>
            </p:cNvPr>
            <p:cNvSpPr/>
            <p:nvPr/>
          </p:nvSpPr>
          <p:spPr>
            <a:xfrm>
              <a:off x="3257139" y="1171375"/>
              <a:ext cx="2372417" cy="2372417"/>
            </a:xfrm>
            <a:prstGeom prst="roundRect">
              <a:avLst>
                <a:gd name="adj" fmla="val 1109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D4B47D-AF89-53F9-F70B-A919EE5EF43C}"/>
                </a:ext>
              </a:extLst>
            </p:cNvPr>
            <p:cNvSpPr/>
            <p:nvPr/>
          </p:nvSpPr>
          <p:spPr>
            <a:xfrm>
              <a:off x="4736370" y="1171375"/>
              <a:ext cx="899814" cy="745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E5080F3-C5BC-06BB-3339-8290108F2C1F}"/>
                </a:ext>
              </a:extLst>
            </p:cNvPr>
            <p:cNvSpPr/>
            <p:nvPr/>
          </p:nvSpPr>
          <p:spPr>
            <a:xfrm>
              <a:off x="4738039" y="2800131"/>
              <a:ext cx="899814" cy="745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F12DE8C-41AD-0A27-AD0B-1600E36753EE}"/>
                </a:ext>
              </a:extLst>
            </p:cNvPr>
            <p:cNvSpPr/>
            <p:nvPr/>
          </p:nvSpPr>
          <p:spPr>
            <a:xfrm>
              <a:off x="3252717" y="2793981"/>
              <a:ext cx="899814" cy="745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ADB666D7-9FB1-BDE4-FEFD-768E82929A27}"/>
              </a:ext>
            </a:extLst>
          </p:cNvPr>
          <p:cNvSpPr/>
          <p:nvPr/>
        </p:nvSpPr>
        <p:spPr>
          <a:xfrm>
            <a:off x="4040342" y="3148813"/>
            <a:ext cx="899814" cy="8661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399BA9C-E4AD-B050-685B-F5E83A1B77A5}"/>
              </a:ext>
            </a:extLst>
          </p:cNvPr>
          <p:cNvSpPr/>
          <p:nvPr/>
        </p:nvSpPr>
        <p:spPr>
          <a:xfrm>
            <a:off x="5185008" y="1966806"/>
            <a:ext cx="899814" cy="866130"/>
          </a:xfrm>
          <a:prstGeom prst="ellipse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CBFF5B3-2FD8-CAF3-471D-EB8F6B5F210E}"/>
              </a:ext>
            </a:extLst>
          </p:cNvPr>
          <p:cNvGrpSpPr/>
          <p:nvPr/>
        </p:nvGrpSpPr>
        <p:grpSpPr>
          <a:xfrm rot="16200000">
            <a:off x="3282514" y="3981424"/>
            <a:ext cx="2385136" cy="2374123"/>
            <a:chOff x="3252717" y="1171375"/>
            <a:chExt cx="2385136" cy="2374123"/>
          </a:xfrm>
          <a:solidFill>
            <a:srgbClr val="E10045"/>
          </a:solidFill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805B9955-B45A-9CF1-F471-13A054EC2349}"/>
                </a:ext>
              </a:extLst>
            </p:cNvPr>
            <p:cNvSpPr/>
            <p:nvPr/>
          </p:nvSpPr>
          <p:spPr>
            <a:xfrm>
              <a:off x="3257139" y="1171375"/>
              <a:ext cx="2372417" cy="2372417"/>
            </a:xfrm>
            <a:prstGeom prst="roundRect">
              <a:avLst>
                <a:gd name="adj" fmla="val 1109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9515BD4-4DA6-F6A8-C2A9-23FF88BD902A}"/>
                </a:ext>
              </a:extLst>
            </p:cNvPr>
            <p:cNvSpPr/>
            <p:nvPr/>
          </p:nvSpPr>
          <p:spPr>
            <a:xfrm>
              <a:off x="4736370" y="1171375"/>
              <a:ext cx="899814" cy="745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B46AA25-702F-30EF-B1D8-DB952CE50D9F}"/>
                </a:ext>
              </a:extLst>
            </p:cNvPr>
            <p:cNvSpPr/>
            <p:nvPr/>
          </p:nvSpPr>
          <p:spPr>
            <a:xfrm>
              <a:off x="4738039" y="2800132"/>
              <a:ext cx="899814" cy="745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91C1F7-FEEF-D8B9-6946-91B9B13773E6}"/>
                </a:ext>
              </a:extLst>
            </p:cNvPr>
            <p:cNvSpPr/>
            <p:nvPr/>
          </p:nvSpPr>
          <p:spPr>
            <a:xfrm>
              <a:off x="3252717" y="2793981"/>
              <a:ext cx="899814" cy="745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1B24FFC4-C02C-A02B-7F20-9DC0184ECD19}"/>
              </a:ext>
            </a:extLst>
          </p:cNvPr>
          <p:cNvSpPr/>
          <p:nvPr/>
        </p:nvSpPr>
        <p:spPr>
          <a:xfrm>
            <a:off x="5187015" y="4741901"/>
            <a:ext cx="899814" cy="8661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8A44158-197B-CD16-ECFB-DFB482F9DD4C}"/>
              </a:ext>
            </a:extLst>
          </p:cNvPr>
          <p:cNvSpPr/>
          <p:nvPr/>
        </p:nvSpPr>
        <p:spPr>
          <a:xfrm>
            <a:off x="4016246" y="3541495"/>
            <a:ext cx="899814" cy="866130"/>
          </a:xfrm>
          <a:prstGeom prst="ellipse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7CA04D8-F40A-3295-FB7A-953195603AA3}"/>
              </a:ext>
            </a:extLst>
          </p:cNvPr>
          <p:cNvSpPr/>
          <p:nvPr/>
        </p:nvSpPr>
        <p:spPr>
          <a:xfrm>
            <a:off x="5657752" y="4724173"/>
            <a:ext cx="899814" cy="866130"/>
          </a:xfrm>
          <a:prstGeom prst="ellipse">
            <a:avLst/>
          </a:prstGeom>
          <a:solidFill>
            <a:srgbClr val="E100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EAE16B-EA80-5EE9-A39C-0B30B3DD32CD}"/>
              </a:ext>
            </a:extLst>
          </p:cNvPr>
          <p:cNvSpPr txBox="1"/>
          <p:nvPr/>
        </p:nvSpPr>
        <p:spPr>
          <a:xfrm>
            <a:off x="3922017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1965"/>
                  </a:schemeClr>
                </a:solidFill>
              </a:rPr>
              <a:t>2 .</a:t>
            </a:r>
            <a:endParaRPr lang="ko-KR" altLang="en-US" sz="1600" b="1" spc="-150" dirty="0">
              <a:solidFill>
                <a:schemeClr val="bg1">
                  <a:alpha val="41965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DA102B-BB93-EC92-1528-04D8CB4A7AEA}"/>
              </a:ext>
            </a:extLst>
          </p:cNvPr>
          <p:cNvSpPr txBox="1"/>
          <p:nvPr/>
        </p:nvSpPr>
        <p:spPr>
          <a:xfrm>
            <a:off x="5844409" y="13457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chemeClr val="bg1">
                    <a:alpha val="47000"/>
                  </a:schemeClr>
                </a:solidFill>
              </a:rPr>
              <a:t>3 .</a:t>
            </a:r>
            <a:endParaRPr lang="ko-KR" altLang="en-US" sz="1600" b="1" spc="-150" dirty="0">
              <a:solidFill>
                <a:schemeClr val="bg1">
                  <a:alpha val="47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4953F3-E3B6-24F6-6A4E-C208D6D4886B}"/>
              </a:ext>
            </a:extLst>
          </p:cNvPr>
          <p:cNvSpPr txBox="1"/>
          <p:nvPr/>
        </p:nvSpPr>
        <p:spPr>
          <a:xfrm>
            <a:off x="6160114" y="14996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7070"/>
                  </a:schemeClr>
                </a:solidFill>
                <a:latin typeface="+mn-ea"/>
              </a:rPr>
              <a:t>논문 상세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D67BA0-71CD-3F1C-169F-9F7E1447FF69}"/>
              </a:ext>
            </a:extLst>
          </p:cNvPr>
          <p:cNvSpPr txBox="1"/>
          <p:nvPr/>
        </p:nvSpPr>
        <p:spPr>
          <a:xfrm>
            <a:off x="4242916" y="15953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chemeClr val="bg1">
                    <a:alpha val="42000"/>
                  </a:schemeClr>
                </a:solidFill>
                <a:latin typeface="+mn-ea"/>
              </a:rPr>
              <a:t>논문 요약</a:t>
            </a:r>
          </a:p>
        </p:txBody>
      </p:sp>
      <p:sp>
        <p:nvSpPr>
          <p:cNvPr id="64" name="사각형: 둥근 모서리 3">
            <a:extLst>
              <a:ext uri="{FF2B5EF4-FFF2-40B4-BE49-F238E27FC236}">
                <a16:creationId xmlns:a16="http://schemas.microsoft.com/office/drawing/2014/main" id="{E23787E7-0880-F31C-EFF9-C824720DCC1B}"/>
              </a:ext>
            </a:extLst>
          </p:cNvPr>
          <p:cNvSpPr/>
          <p:nvPr/>
        </p:nvSpPr>
        <p:spPr>
          <a:xfrm>
            <a:off x="7844726" y="142326"/>
            <a:ext cx="1336685" cy="313376"/>
          </a:xfrm>
          <a:prstGeom prst="roundRect">
            <a:avLst>
              <a:gd name="adj" fmla="val 360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B6632B-D5FE-FF92-7909-06259A773650}"/>
              </a:ext>
            </a:extLst>
          </p:cNvPr>
          <p:cNvSpPr txBox="1"/>
          <p:nvPr/>
        </p:nvSpPr>
        <p:spPr>
          <a:xfrm>
            <a:off x="7909547" y="13253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pc="-150" dirty="0">
                <a:solidFill>
                  <a:srgbClr val="E10045"/>
                </a:solidFill>
              </a:rPr>
              <a:t>4 .</a:t>
            </a:r>
            <a:endParaRPr lang="ko-KR" altLang="en-US" sz="1600" b="1" spc="-150" dirty="0">
              <a:solidFill>
                <a:srgbClr val="E10045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6B08E30-992B-6DE3-8554-B8DA8A2BF587}"/>
              </a:ext>
            </a:extLst>
          </p:cNvPr>
          <p:cNvSpPr txBox="1"/>
          <p:nvPr/>
        </p:nvSpPr>
        <p:spPr>
          <a:xfrm>
            <a:off x="8191385" y="159214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>
                <a:solidFill>
                  <a:srgbClr val="E10045"/>
                </a:solidFill>
                <a:latin typeface="+mn-ea"/>
              </a:rPr>
              <a:t>기여 방안</a:t>
            </a:r>
          </a:p>
        </p:txBody>
      </p:sp>
      <p:pic>
        <p:nvPicPr>
          <p:cNvPr id="25" name="Picture 2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EDC2F03-44BF-9A9F-1FD6-946EEEF6262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6747" y="4470576"/>
            <a:ext cx="2247900" cy="1600200"/>
          </a:xfrm>
          <a:prstGeom prst="rect">
            <a:avLst/>
          </a:prstGeom>
        </p:spPr>
      </p:pic>
      <p:pic>
        <p:nvPicPr>
          <p:cNvPr id="27" name="Picture 2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AAAED68-8A91-8A43-065E-58235A656D4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8290" y="4359334"/>
            <a:ext cx="2108200" cy="1600200"/>
          </a:xfrm>
          <a:prstGeom prst="rect">
            <a:avLst/>
          </a:prstGeom>
        </p:spPr>
      </p:pic>
      <p:pic>
        <p:nvPicPr>
          <p:cNvPr id="63" name="Picture 62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DDBDC70-BD59-6456-0655-EB428944452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7994" y="2010002"/>
            <a:ext cx="2108200" cy="749300"/>
          </a:xfrm>
          <a:prstGeom prst="rect">
            <a:avLst/>
          </a:prstGeom>
        </p:spPr>
      </p:pic>
      <p:pic>
        <p:nvPicPr>
          <p:cNvPr id="67" name="Picture 6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C90371D-7758-14CC-14AC-BA6650108DD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6838" y="1696509"/>
            <a:ext cx="2108200" cy="1168400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2C8C2E1B-672A-DEE7-D243-B87842D23D3F}"/>
              </a:ext>
            </a:extLst>
          </p:cNvPr>
          <p:cNvGrpSpPr/>
          <p:nvPr/>
        </p:nvGrpSpPr>
        <p:grpSpPr>
          <a:xfrm>
            <a:off x="3224110" y="1056598"/>
            <a:ext cx="5264520" cy="5300034"/>
            <a:chOff x="3224110" y="1056598"/>
            <a:chExt cx="5264520" cy="5300034"/>
          </a:xfrm>
        </p:grpSpPr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6B90BBFD-33A6-8D74-4BFF-ED5172CDF832}"/>
                </a:ext>
              </a:extLst>
            </p:cNvPr>
            <p:cNvSpPr/>
            <p:nvPr/>
          </p:nvSpPr>
          <p:spPr>
            <a:xfrm>
              <a:off x="3260612" y="1160411"/>
              <a:ext cx="5228018" cy="5196221"/>
            </a:xfrm>
            <a:prstGeom prst="roundRect">
              <a:avLst>
                <a:gd name="adj" fmla="val 5562"/>
              </a:avLst>
            </a:prstGeom>
            <a:solidFill>
              <a:srgbClr val="D90048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DC252E02-1759-E9FA-E72B-70F0FF7554B7}"/>
                </a:ext>
              </a:extLst>
            </p:cNvPr>
            <p:cNvSpPr/>
            <p:nvPr/>
          </p:nvSpPr>
          <p:spPr>
            <a:xfrm>
              <a:off x="3224110" y="1056598"/>
              <a:ext cx="5228018" cy="5196221"/>
            </a:xfrm>
            <a:prstGeom prst="roundRect">
              <a:avLst>
                <a:gd name="adj" fmla="val 5562"/>
              </a:avLst>
            </a:prstGeom>
            <a:blipFill dpi="0" rotWithShape="1">
              <a:blip r:embed="rId8"/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</p:grpSp>
    </p:spTree>
    <p:extLst>
      <p:ext uri="{BB962C8B-B14F-4D97-AF65-F5344CB8AC3E}">
        <p14:creationId xmlns:p14="http://schemas.microsoft.com/office/powerpoint/2010/main" val="1961575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14.5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96818</TotalTime>
  <Words>1626</Words>
  <Application>Microsoft Macintosh PowerPoint</Application>
  <PresentationFormat>Widescreen</PresentationFormat>
  <Paragraphs>317</Paragraphs>
  <Slides>14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Calibri Light</vt:lpstr>
      <vt:lpstr>Jalnan OTF</vt:lpstr>
      <vt:lpstr>Arial</vt:lpstr>
      <vt:lpstr>LG EI Text Regular</vt:lpstr>
      <vt:lpstr>-apple-system</vt:lpstr>
      <vt:lpstr>Gmarket Sans Bold</vt:lpstr>
      <vt:lpstr>Calibri</vt:lpstr>
      <vt:lpstr>LGSmHaTR</vt:lpstr>
      <vt:lpstr>Gulim</vt:lpstr>
      <vt:lpstr>se-nanumgothic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이홍정</dc:creator>
  <cp:keywords/>
  <dc:description/>
  <cp:lastModifiedBy>김민지</cp:lastModifiedBy>
  <cp:revision>59</cp:revision>
  <dcterms:created xsi:type="dcterms:W3CDTF">2022-10-31T12:20:26Z</dcterms:created>
  <dcterms:modified xsi:type="dcterms:W3CDTF">2025-01-02T10:19:45Z</dcterms:modified>
  <cp:category/>
</cp:coreProperties>
</file>